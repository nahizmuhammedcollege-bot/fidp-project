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9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1371600"/>
            <a:ext cx="109728" cy="3840480"/>
          </a:xfrm>
          <a:prstGeom prst="rect">
            <a:avLst/>
          </a:prstGeom>
          <a:solidFill>
            <a:srgbClr val="38BDF8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1280160"/>
            <a:ext cx="1024128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38BDF8"/>
                </a:solidFill>
                <a:latin typeface="Segoe UI"/>
              </a:defRPr>
            </a:pPr>
            <a:r>
              <a:t>FDIP - FINAL PROJECT PRESENTATION (PHASE 3)</a:t>
            </a:r>
          </a:p>
          <a:p>
            <a:pPr>
              <a:spcBef>
                <a:spcPts val="1000"/>
              </a:spcBef>
              <a:defRPr sz="3200" b="1">
                <a:solidFill>
                  <a:srgbClr val="F8FAFC"/>
                </a:solidFill>
                <a:latin typeface="Segoe UI"/>
              </a:defRPr>
            </a:pPr>
            <a:r>
              <a:t>AUTOMATIC NUMBER PLATE RECOGNITION (ANPR) SYSTEM</a:t>
            </a:r>
          </a:p>
          <a:p>
            <a:pPr>
              <a:spcBef>
                <a:spcPts val="800"/>
              </a:spcBef>
              <a:defRPr sz="1600">
                <a:solidFill>
                  <a:srgbClr val="94A3B8"/>
                </a:solidFill>
                <a:latin typeface="Segoe UI"/>
              </a:defRPr>
            </a:pPr>
            <a:r>
              <a:t>Computer Vision &amp; OCR Pipeline for Real-World Indian License Plates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97280" y="4663440"/>
            <a:ext cx="3200400" cy="1371600"/>
          </a:xfrm>
          <a:prstGeom prst="roundRect">
            <a:avLst/>
          </a:prstGeom>
          <a:solidFill>
            <a:srgbClr val="172A45"/>
          </a:solidFill>
          <a:ln w="1524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4773168"/>
            <a:ext cx="3200400" cy="11521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38BDF8"/>
                </a:solidFill>
                <a:latin typeface="Segoe UI"/>
              </a:defRPr>
            </a:pPr>
            <a:r>
              <a:t>Python &amp; OpenCV</a:t>
            </a:r>
          </a:p>
          <a:p>
            <a:pPr algn="ctr">
              <a:defRPr sz="1100" b="1">
                <a:solidFill>
                  <a:srgbClr val="F8FAFC"/>
                </a:solidFill>
                <a:latin typeface="Segoe UI"/>
              </a:defRPr>
            </a:pPr>
            <a:r>
              <a:t>Modular Computer Vision Architecture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0" y="4663440"/>
            <a:ext cx="3200400" cy="1371600"/>
          </a:xfrm>
          <a:prstGeom prst="roundRect">
            <a:avLst/>
          </a:prstGeom>
          <a:solidFill>
            <a:srgbClr val="172A45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0" y="4773168"/>
            <a:ext cx="3200400" cy="11521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10B981"/>
                </a:solidFill>
                <a:latin typeface="Segoe UI"/>
              </a:defRPr>
            </a:pPr>
            <a:r>
              <a:t>Kaggle Dataset</a:t>
            </a:r>
          </a:p>
          <a:p>
            <a:pPr algn="ctr">
              <a:defRPr sz="1100" b="1">
                <a:solidFill>
                  <a:srgbClr val="F8FAFC"/>
                </a:solidFill>
                <a:latin typeface="Segoe UI"/>
              </a:defRPr>
            </a:pPr>
            <a:r>
              <a:t>3,396 Files | 35 Indian States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4663440"/>
            <a:ext cx="3200400" cy="1371600"/>
          </a:xfrm>
          <a:prstGeom prst="roundRect">
            <a:avLst/>
          </a:prstGeom>
          <a:solidFill>
            <a:srgbClr val="172A45"/>
          </a:solidFill>
          <a:ln w="1524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46720" y="4773168"/>
            <a:ext cx="3200400" cy="11521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F59E0B"/>
                </a:solidFill>
                <a:latin typeface="Segoe UI"/>
              </a:defRPr>
            </a:pPr>
            <a:r>
              <a:t>One-Click Ready</a:t>
            </a:r>
          </a:p>
          <a:p>
            <a:pPr algn="ctr">
              <a:defRPr sz="1100" b="1">
                <a:solidFill>
                  <a:srgbClr val="F8FAFC"/>
                </a:solidFill>
                <a:latin typeface="Segoe UI"/>
              </a:defRPr>
            </a:pPr>
            <a:r>
              <a:t>Fully Executable `main.py` &amp; `run.bat`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9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  <a:latin typeface="Segoe UI"/>
              </a:defRPr>
            </a:pPr>
            <a:r>
              <a:t>PROJECT FOUNDATION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Segoe UI"/>
              </a:defRPr>
            </a:pPr>
            <a:r>
              <a:t>1. Executive Summary &amp; Project Objectives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98448"/>
            <a:ext cx="10725912" cy="18288"/>
          </a:xfrm>
          <a:prstGeom prst="rect">
            <a:avLst/>
          </a:prstGeom>
          <a:solidFill>
            <a:srgbClr val="1E3A5F"/>
          </a:solidFill>
          <a:ln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2468880" cy="1188720"/>
          </a:xfrm>
          <a:prstGeom prst="roundRect">
            <a:avLst/>
          </a:prstGeom>
          <a:solidFill>
            <a:srgbClr val="172A45"/>
          </a:solidFill>
          <a:ln w="1524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664208"/>
            <a:ext cx="2468880" cy="9692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38BDF8"/>
                </a:solidFill>
                <a:latin typeface="Segoe UI"/>
              </a:defRPr>
            </a:pPr>
            <a:r>
              <a:t>1,696</a:t>
            </a:r>
          </a:p>
          <a:p>
            <a:pPr algn="ctr">
              <a:defRPr sz="1100" b="1">
                <a:solidFill>
                  <a:srgbClr val="F8FAFC"/>
                </a:solidFill>
                <a:latin typeface="Segoe UI"/>
              </a:defRPr>
            </a:pPr>
            <a:r>
              <a:t>Annotated Vehicles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74720" y="1554480"/>
            <a:ext cx="2468880" cy="1188720"/>
          </a:xfrm>
          <a:prstGeom prst="roundRect">
            <a:avLst/>
          </a:prstGeom>
          <a:solidFill>
            <a:srgbClr val="172A45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474720" y="1664208"/>
            <a:ext cx="2468880" cy="9692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10B981"/>
                </a:solidFill>
                <a:latin typeface="Segoe UI"/>
              </a:defRPr>
            </a:pPr>
            <a:r>
              <a:t>35 States</a:t>
            </a:r>
          </a:p>
          <a:p>
            <a:pPr algn="ctr">
              <a:defRPr sz="1100" b="1">
                <a:solidFill>
                  <a:srgbClr val="F8FAFC"/>
                </a:solidFill>
                <a:latin typeface="Segoe UI"/>
              </a:defRPr>
            </a:pPr>
            <a:r>
              <a:t>Pan-India Coverage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554480"/>
            <a:ext cx="2468880" cy="1188720"/>
          </a:xfrm>
          <a:prstGeom prst="roundRect">
            <a:avLst/>
          </a:prstGeom>
          <a:solidFill>
            <a:srgbClr val="172A45"/>
          </a:solidFill>
          <a:ln w="1524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17920" y="1664208"/>
            <a:ext cx="2468880" cy="9692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F59E0B"/>
                </a:solidFill>
                <a:latin typeface="Segoe UI"/>
              </a:defRPr>
            </a:pPr>
            <a:r>
              <a:t>6.8 ms</a:t>
            </a:r>
          </a:p>
          <a:p>
            <a:pPr algn="ctr">
              <a:defRPr sz="1100" b="1">
                <a:solidFill>
                  <a:srgbClr val="F8FAFC"/>
                </a:solidFill>
                <a:latin typeface="Segoe UI"/>
              </a:defRPr>
            </a:pPr>
            <a:r>
              <a:t>Localization Latency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961120" y="1554480"/>
            <a:ext cx="2468880" cy="1188720"/>
          </a:xfrm>
          <a:prstGeom prst="roundRect">
            <a:avLst/>
          </a:prstGeom>
          <a:solidFill>
            <a:srgbClr val="172A45"/>
          </a:solidFill>
          <a:ln w="1524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961120" y="1664208"/>
            <a:ext cx="2468880" cy="9692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38BDF8"/>
                </a:solidFill>
                <a:latin typeface="Segoe UI"/>
              </a:defRPr>
            </a:pPr>
            <a:r>
              <a:t>Zero Cloud</a:t>
            </a:r>
          </a:p>
          <a:p>
            <a:pPr algn="ctr">
              <a:defRPr sz="1100" b="1">
                <a:solidFill>
                  <a:srgbClr val="F8FAFC"/>
                </a:solidFill>
                <a:latin typeface="Segoe UI"/>
              </a:defRPr>
            </a:pPr>
            <a:r>
              <a:t>100% Offline Edge Processing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3017520"/>
            <a:ext cx="5212080" cy="3383280"/>
          </a:xfrm>
          <a:prstGeom prst="roundRect">
            <a:avLst/>
          </a:prstGeom>
          <a:solidFill>
            <a:srgbClr val="172A45"/>
          </a:solidFill>
          <a:ln w="1524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3182112"/>
            <a:ext cx="4846320" cy="3054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38BDF8"/>
                </a:solidFill>
                <a:latin typeface="Segoe UI"/>
              </a:defRPr>
            </a:pPr>
            <a:r>
              <a:t>Core System Objectives</a:t>
            </a:r>
          </a:p>
          <a:p>
            <a:pPr>
              <a:spcBef>
                <a:spcPts val="600"/>
              </a:spcBef>
              <a:defRPr sz="1200">
                <a:solidFill>
                  <a:srgbClr val="F8FAFC"/>
                </a:solidFill>
                <a:latin typeface="Segoe UI"/>
              </a:defRPr>
            </a:pPr>
            <a:r>
              <a:t>•  Automate vehicle license plate detection from camera/image inputs without manual intervention.</a:t>
            </a:r>
          </a:p>
          <a:p>
            <a:pPr>
              <a:spcBef>
                <a:spcPts val="600"/>
              </a:spcBef>
              <a:defRPr sz="1200">
                <a:solidFill>
                  <a:srgbClr val="F8FAFC"/>
                </a:solidFill>
                <a:latin typeface="Segoe UI"/>
              </a:defRPr>
            </a:pPr>
            <a:r>
              <a:t>•  Implement contrast equalization (CLAHE) &amp; edge-preserving bilateral filtering for adverse illumination.</a:t>
            </a:r>
          </a:p>
          <a:p>
            <a:pPr>
              <a:spcBef>
                <a:spcPts val="600"/>
              </a:spcBef>
              <a:defRPr sz="1200">
                <a:solidFill>
                  <a:srgbClr val="F8FAFC"/>
                </a:solidFill>
                <a:latin typeface="Segoe UI"/>
              </a:defRPr>
            </a:pPr>
            <a:r>
              <a:t>•  Accurately isolate license plate quadrilaterals using morphological operations &amp; aspect ratio heuristics.</a:t>
            </a:r>
          </a:p>
          <a:p>
            <a:pPr>
              <a:spcBef>
                <a:spcPts val="600"/>
              </a:spcBef>
              <a:defRPr sz="1200">
                <a:solidFill>
                  <a:srgbClr val="F8FAFC"/>
                </a:solidFill>
                <a:latin typeface="Segoe UI"/>
              </a:defRPr>
            </a:pPr>
            <a:r>
              <a:t>•  Extract alphanumeric characters via Tesseract OCR v5.4 and Indian syntax positional validation.</a:t>
            </a:r>
          </a:p>
          <a:p>
            <a:pPr>
              <a:spcBef>
                <a:spcPts val="600"/>
              </a:spcBef>
              <a:defRPr sz="1200">
                <a:solidFill>
                  <a:srgbClr val="F8FAFC"/>
                </a:solidFill>
                <a:latin typeface="Segoe UI"/>
              </a:defRPr>
            </a:pPr>
            <a:r>
              <a:t>•  Provide real-time vehicle access logging with timestamps, confidence scores, and CSV audit trails.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3017520"/>
            <a:ext cx="5212080" cy="3383280"/>
          </a:xfrm>
          <a:prstGeom prst="roundRect">
            <a:avLst/>
          </a:prstGeom>
          <a:solidFill>
            <a:srgbClr val="172A45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0" y="3182112"/>
            <a:ext cx="4846320" cy="3054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0B981"/>
                </a:solidFill>
                <a:latin typeface="Segoe UI"/>
              </a:defRPr>
            </a:pPr>
            <a:r>
              <a:t>Phase 2 vs. Final Phase Evolution</a:t>
            </a:r>
          </a:p>
          <a:p>
            <a:pPr>
              <a:spcBef>
                <a:spcPts val="600"/>
              </a:spcBef>
              <a:defRPr sz="1200">
                <a:solidFill>
                  <a:srgbClr val="F8FAFC"/>
                </a:solidFill>
                <a:latin typeface="Segoe UI"/>
              </a:defRPr>
            </a:pPr>
            <a:r>
              <a:t>•  Phase 2: High-level architectural concept, theoretical workflow, and toolchain selection.</a:t>
            </a:r>
          </a:p>
          <a:p>
            <a:pPr>
              <a:spcBef>
                <a:spcPts val="600"/>
              </a:spcBef>
              <a:defRPr sz="1200">
                <a:solidFill>
                  <a:srgbClr val="F8FAFC"/>
                </a:solidFill>
                <a:latin typeface="Segoe UI"/>
              </a:defRPr>
            </a:pPr>
            <a:r>
              <a:t>•  Final Phase: Complete end-to-end Python codebase, actual Kaggle real-world dataset integration.</a:t>
            </a:r>
          </a:p>
          <a:p>
            <a:pPr>
              <a:spcBef>
                <a:spcPts val="600"/>
              </a:spcBef>
              <a:defRPr sz="1200">
                <a:solidFill>
                  <a:srgbClr val="F8FAFC"/>
                </a:solidFill>
                <a:latin typeface="Segoe UI"/>
              </a:defRPr>
            </a:pPr>
            <a:r>
              <a:t>•  Multi-scale image adaptation to resolve low-resolution in-the-wild mobile photos (&lt;300px).</a:t>
            </a:r>
          </a:p>
          <a:p>
            <a:pPr>
              <a:spcBef>
                <a:spcPts val="600"/>
              </a:spcBef>
              <a:defRPr sz="1200">
                <a:solidFill>
                  <a:srgbClr val="F8FAFC"/>
                </a:solidFill>
                <a:latin typeface="Segoe UI"/>
              </a:defRPr>
            </a:pPr>
            <a:r>
              <a:t>•  Empirical benchmark evaluation with IoU localization metrics, Character Error Rate (CER), and FPS.</a:t>
            </a:r>
          </a:p>
          <a:p>
            <a:pPr>
              <a:spcBef>
                <a:spcPts val="600"/>
              </a:spcBef>
              <a:defRPr sz="1200">
                <a:solidFill>
                  <a:srgbClr val="F8FAFC"/>
                </a:solidFill>
                <a:latin typeface="Segoe UI"/>
              </a:defRPr>
            </a:pPr>
            <a:r>
              <a:t>•  Standalone Windows launcher (`run.bat`) ensuring 100% instant verification.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9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  <a:latin typeface="Segoe UI"/>
              </a:defRPr>
            </a:pPr>
            <a:r>
              <a:t>METHODOLOGY &amp; ALGORITHMS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Segoe UI"/>
              </a:defRPr>
            </a:pPr>
            <a:r>
              <a:t>2. Character Segmentation &amp; Optical Character Recognition (OCR)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98448"/>
            <a:ext cx="10725912" cy="18288"/>
          </a:xfrm>
          <a:prstGeom prst="rect">
            <a:avLst/>
          </a:prstGeom>
          <a:solidFill>
            <a:srgbClr val="1E3A5F"/>
          </a:solidFill>
          <a:ln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5212080" cy="4846320"/>
          </a:xfrm>
          <a:prstGeom prst="roundRect">
            <a:avLst/>
          </a:prstGeom>
          <a:solidFill>
            <a:srgbClr val="172A45"/>
          </a:solidFill>
          <a:ln w="1524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719072"/>
            <a:ext cx="4846320" cy="45171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38BDF8"/>
                </a:solidFill>
                <a:latin typeface="Segoe UI"/>
              </a:defRPr>
            </a:pPr>
            <a:r>
              <a:t>Plate Pre-Processing for OCR</a:t>
            </a:r>
          </a:p>
          <a:p>
            <a:pPr>
              <a:spcBef>
                <a:spcPts val="600"/>
              </a:spcBef>
              <a:defRPr sz="1200">
                <a:solidFill>
                  <a:srgbClr val="F8FAFC"/>
                </a:solidFill>
                <a:latin typeface="Segoe UI"/>
              </a:defRPr>
            </a:pPr>
            <a:r>
              <a:t>•  Standardized Height Normalization: Rescales cropped license plate to standard height (100px) using cubic interpolation for uniform character stroke width.</a:t>
            </a:r>
          </a:p>
          <a:p>
            <a:pPr>
              <a:spcBef>
                <a:spcPts val="600"/>
              </a:spcBef>
              <a:defRPr sz="1200">
                <a:solidFill>
                  <a:srgbClr val="F8FAFC"/>
                </a:solidFill>
                <a:latin typeface="Segoe UI"/>
              </a:defRPr>
            </a:pPr>
            <a:r>
              <a:t>•  Otsu Dynamic Binarization: Dynamically computes optimal threshold dividing dark character pixels from light background plate pixels.</a:t>
            </a:r>
          </a:p>
          <a:p>
            <a:pPr>
              <a:spcBef>
                <a:spcPts val="600"/>
              </a:spcBef>
              <a:defRPr sz="1200">
                <a:solidFill>
                  <a:srgbClr val="F8FAFC"/>
                </a:solidFill>
                <a:latin typeface="Segoe UI"/>
              </a:defRPr>
            </a:pPr>
            <a:r>
              <a:t>•  Polarity Inversion Check: Samples the 6-pixel border boundary. If borders are dark, bitwise inverts the image to guarantee dark text on pure white background.</a:t>
            </a:r>
          </a:p>
          <a:p>
            <a:pPr>
              <a:spcBef>
                <a:spcPts val="600"/>
              </a:spcBef>
              <a:defRPr sz="1200">
                <a:solidFill>
                  <a:srgbClr val="F8FAFC"/>
                </a:solidFill>
                <a:latin typeface="Segoe UI"/>
              </a:defRPr>
            </a:pPr>
            <a:r>
              <a:t>•  Border Artifact Padding: Adds 15px white padding (`cv2.copyMakeBorder`) around the plate so edge characters (e.g. initial 'M' or trailing '4') are not clipped.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554480"/>
            <a:ext cx="5212080" cy="4846320"/>
          </a:xfrm>
          <a:prstGeom prst="roundRect">
            <a:avLst/>
          </a:prstGeom>
          <a:solidFill>
            <a:srgbClr val="172A45"/>
          </a:solidFill>
          <a:ln w="1524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719072"/>
            <a:ext cx="4846320" cy="45171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59E0B"/>
                </a:solidFill>
                <a:latin typeface="Segoe UI"/>
              </a:defRPr>
            </a:pPr>
            <a:r>
              <a:t>Tesseract OCR v5.4 Integration &amp; Optimization</a:t>
            </a:r>
          </a:p>
          <a:p>
            <a:pPr>
              <a:spcBef>
                <a:spcPts val="600"/>
              </a:spcBef>
              <a:defRPr sz="1200">
                <a:solidFill>
                  <a:srgbClr val="F8FAFC"/>
                </a:solidFill>
                <a:latin typeface="Segoe UI"/>
              </a:defRPr>
            </a:pPr>
            <a:r>
              <a:t>•  LSTM Neural Network Engine: Leverages Tesseract v5.4's neural network sequence recognizer trained on millions of text lines.</a:t>
            </a:r>
          </a:p>
          <a:p>
            <a:pPr>
              <a:spcBef>
                <a:spcPts val="600"/>
              </a:spcBef>
              <a:defRPr sz="1200">
                <a:solidFill>
                  <a:srgbClr val="F8FAFC"/>
                </a:solidFill>
                <a:latin typeface="Segoe UI"/>
              </a:defRPr>
            </a:pPr>
            <a:r>
              <a:t>•  Page Segmentation Mode (PSM) Multi-Pass: Evaluates PSM 6 (Single uniform text block), PSM 7 (Single line of text), and PSM 8 (Single word) in fallback sequence.</a:t>
            </a:r>
          </a:p>
          <a:p>
            <a:pPr>
              <a:spcBef>
                <a:spcPts val="600"/>
              </a:spcBef>
              <a:defRPr sz="1200">
                <a:solidFill>
                  <a:srgbClr val="F8FAFC"/>
                </a:solidFill>
                <a:latin typeface="Segoe UI"/>
              </a:defRPr>
            </a:pPr>
            <a:r>
              <a:t>•  Alphanumeric Whitelist: Constrains OCR search space strictly to `ABCDEFGHIJKLMNOPQRSTUVWXYZ0123456789`, eliminating punctuation errors and symbols.</a:t>
            </a:r>
          </a:p>
          <a:p>
            <a:pPr>
              <a:spcBef>
                <a:spcPts val="600"/>
              </a:spcBef>
              <a:defRPr sz="1200">
                <a:solidFill>
                  <a:srgbClr val="F8FAFC"/>
                </a:solidFill>
                <a:latin typeface="Segoe UI"/>
              </a:defRPr>
            </a:pPr>
            <a:r>
              <a:t>•  State-Code Anchor Scanning: Scans raw text for 35 valid Indian state codes (DL, MH, KA, TN, etc.) to discard extraneous bumper text.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9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  <a:latin typeface="Segoe UI"/>
              </a:defRPr>
            </a:pPr>
            <a:r>
              <a:t>DATA ENGINEERING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Segoe UI"/>
              </a:defRPr>
            </a:pPr>
            <a:r>
              <a:t>3. Datasets Used: Kaggle Indian License Plate Dataset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98448"/>
            <a:ext cx="10725912" cy="18288"/>
          </a:xfrm>
          <a:prstGeom prst="rect">
            <a:avLst/>
          </a:prstGeom>
          <a:solidFill>
            <a:srgbClr val="1E3A5F"/>
          </a:solidFill>
          <a:ln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2468880" cy="1188720"/>
          </a:xfrm>
          <a:prstGeom prst="roundRect">
            <a:avLst/>
          </a:prstGeom>
          <a:solidFill>
            <a:srgbClr val="172A45"/>
          </a:solidFill>
          <a:ln w="1524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664208"/>
            <a:ext cx="2468880" cy="9692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38BDF8"/>
                </a:solidFill>
                <a:latin typeface="Segoe UI"/>
              </a:defRPr>
            </a:pPr>
            <a:r>
              <a:t>3,396</a:t>
            </a:r>
          </a:p>
          <a:p>
            <a:pPr algn="ctr">
              <a:defRPr sz="1100" b="1">
                <a:solidFill>
                  <a:srgbClr val="F8FAFC"/>
                </a:solidFill>
                <a:latin typeface="Segoe UI"/>
              </a:defRPr>
            </a:pPr>
            <a:r>
              <a:t>Total Archive Files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74720" y="1554480"/>
            <a:ext cx="2468880" cy="1188720"/>
          </a:xfrm>
          <a:prstGeom prst="roundRect">
            <a:avLst/>
          </a:prstGeom>
          <a:solidFill>
            <a:srgbClr val="172A45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474720" y="1664208"/>
            <a:ext cx="2468880" cy="9692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10B981"/>
                </a:solidFill>
                <a:latin typeface="Segoe UI"/>
              </a:defRPr>
            </a:pPr>
            <a:r>
              <a:t>1,696</a:t>
            </a:r>
          </a:p>
          <a:p>
            <a:pPr algn="ctr">
              <a:defRPr sz="1100" b="1">
                <a:solidFill>
                  <a:srgbClr val="F8FAFC"/>
                </a:solidFill>
                <a:latin typeface="Segoe UI"/>
              </a:defRPr>
            </a:pPr>
            <a:r>
              <a:t>Annotated Vehicles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554480"/>
            <a:ext cx="2468880" cy="1188720"/>
          </a:xfrm>
          <a:prstGeom prst="roundRect">
            <a:avLst/>
          </a:prstGeom>
          <a:solidFill>
            <a:srgbClr val="172A45"/>
          </a:solidFill>
          <a:ln w="1524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17920" y="1664208"/>
            <a:ext cx="2468880" cy="9692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F59E0B"/>
                </a:solidFill>
                <a:latin typeface="Segoe UI"/>
              </a:defRPr>
            </a:pPr>
            <a:r>
              <a:t>35 States</a:t>
            </a:r>
          </a:p>
          <a:p>
            <a:pPr algn="ctr">
              <a:defRPr sz="1100" b="1">
                <a:solidFill>
                  <a:srgbClr val="F8FAFC"/>
                </a:solidFill>
                <a:latin typeface="Segoe UI"/>
              </a:defRPr>
            </a:pPr>
            <a:r>
              <a:t>Union Territories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961120" y="1554480"/>
            <a:ext cx="2468880" cy="1188720"/>
          </a:xfrm>
          <a:prstGeom prst="roundRect">
            <a:avLst/>
          </a:prstGeom>
          <a:solidFill>
            <a:srgbClr val="172A45"/>
          </a:solidFill>
          <a:ln w="1524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961120" y="1664208"/>
            <a:ext cx="2468880" cy="9692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38BDF8"/>
                </a:solidFill>
                <a:latin typeface="Segoe UI"/>
              </a:defRPr>
            </a:pPr>
            <a:r>
              <a:t>Pascal VOC</a:t>
            </a:r>
          </a:p>
          <a:p>
            <a:pPr algn="ctr">
              <a:defRPr sz="1100" b="1">
                <a:solidFill>
                  <a:srgbClr val="F8FAFC"/>
                </a:solidFill>
                <a:latin typeface="Segoe UI"/>
              </a:defRPr>
            </a:pPr>
            <a:r>
              <a:t>XML BBox + Text Labels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3017520"/>
            <a:ext cx="5212080" cy="3383280"/>
          </a:xfrm>
          <a:prstGeom prst="roundRect">
            <a:avLst/>
          </a:prstGeom>
          <a:solidFill>
            <a:srgbClr val="172A45"/>
          </a:solidFill>
          <a:ln w="1524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3182112"/>
            <a:ext cx="4846320" cy="3054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38BDF8"/>
                </a:solidFill>
                <a:latin typeface="Segoe UI"/>
              </a:defRPr>
            </a:pPr>
            <a:r>
              <a:t>Dataset Structure &amp; Subsets (`archive.zip`)</a:t>
            </a:r>
          </a:p>
          <a:p>
            <a:pPr>
              <a:spcBef>
                <a:spcPts val="600"/>
              </a:spcBef>
              <a:defRPr sz="1200">
                <a:solidFill>
                  <a:srgbClr val="F8FAFC"/>
                </a:solidFill>
                <a:latin typeface="Segoe UI"/>
              </a:defRPr>
            </a:pPr>
            <a:r>
              <a:t>•  `State-wise_OLX`: Natural, on-road vehicles across 35 Indian states and union territories (sedans, hatchbacks, SUVs, commercial trucks, two-wheelers).</a:t>
            </a:r>
          </a:p>
          <a:p>
            <a:pPr>
              <a:spcBef>
                <a:spcPts val="600"/>
              </a:spcBef>
              <a:defRPr sz="1200">
                <a:solidFill>
                  <a:srgbClr val="F8FAFC"/>
                </a:solidFill>
                <a:latin typeface="Segoe UI"/>
              </a:defRPr>
            </a:pPr>
            <a:r>
              <a:t>•  `video_images`: Surveillance video and dashcam frames representing dynamic motion, toll gate approaches, and lighting changes.</a:t>
            </a:r>
          </a:p>
          <a:p>
            <a:pPr>
              <a:spcBef>
                <a:spcPts val="600"/>
              </a:spcBef>
              <a:defRPr sz="1200">
                <a:solidFill>
                  <a:srgbClr val="F8FAFC"/>
                </a:solidFill>
                <a:latin typeface="Segoe UI"/>
              </a:defRPr>
            </a:pPr>
            <a:r>
              <a:t>•  `google_images`: Diverse web vehicle images under varied camera angles, resolutions, and environmental weather.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3017520"/>
            <a:ext cx="5212080" cy="3383280"/>
          </a:xfrm>
          <a:prstGeom prst="roundRect">
            <a:avLst/>
          </a:prstGeom>
          <a:solidFill>
            <a:srgbClr val="172A45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0" y="3182112"/>
            <a:ext cx="4846320" cy="3054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0B981"/>
                </a:solidFill>
                <a:latin typeface="Segoe UI"/>
              </a:defRPr>
            </a:pPr>
            <a:r>
              <a:t>Ground Truth Annotation Metadata</a:t>
            </a:r>
          </a:p>
          <a:p>
            <a:pPr>
              <a:spcBef>
                <a:spcPts val="600"/>
              </a:spcBef>
              <a:defRPr sz="1200">
                <a:solidFill>
                  <a:srgbClr val="F8FAFC"/>
                </a:solidFill>
                <a:latin typeface="Segoe UI"/>
              </a:defRPr>
            </a:pPr>
            <a:r>
              <a:t>•  XML Annotation Format: High-fidelity Pascal VOC tags providing ground truth registration string in `&lt;name&gt;` and coordinates in `&lt;bndbox&gt;` (`xmin`, `ymin`, `xmax`, `ymax`).</a:t>
            </a:r>
          </a:p>
          <a:p>
            <a:pPr>
              <a:spcBef>
                <a:spcPts val="600"/>
              </a:spcBef>
              <a:defRPr sz="1200">
                <a:solidFill>
                  <a:srgbClr val="F8FAFC"/>
                </a:solidFill>
                <a:latin typeface="Segoe UI"/>
              </a:defRPr>
            </a:pPr>
            <a:r>
              <a:t>•  Challenging Real-World Factors: Includes dirty/mud-splattered plates, yellow commercial plates, low-resolution mobile phone sensors (&lt;300px), and angled perspectives.</a:t>
            </a:r>
          </a:p>
          <a:p>
            <a:pPr>
              <a:spcBef>
                <a:spcPts val="600"/>
              </a:spcBef>
              <a:defRPr sz="1200">
                <a:solidFill>
                  <a:srgbClr val="F8FAFC"/>
                </a:solidFill>
                <a:latin typeface="Segoe UI"/>
              </a:defRPr>
            </a:pPr>
            <a:r>
              <a:t>•  Indexed Manifest: Automatically extracted and indexed into `kaggle_manifest.json` and `kaggle_manifest.csv` for systematic evaluation.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9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  <a:latin typeface="Segoe UI"/>
              </a:defRPr>
            </a:pPr>
            <a:r>
              <a:t>SYSTEM IMPLEMENTATION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Segoe UI"/>
              </a:defRPr>
            </a:pPr>
            <a:r>
              <a:t>4. Software Architecture &amp; Implementation Stack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98448"/>
            <a:ext cx="10725912" cy="18288"/>
          </a:xfrm>
          <a:prstGeom prst="rect">
            <a:avLst/>
          </a:prstGeom>
          <a:solidFill>
            <a:srgbClr val="1E3A5F"/>
          </a:solidFill>
          <a:ln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5212080" cy="4846320"/>
          </a:xfrm>
          <a:prstGeom prst="roundRect">
            <a:avLst/>
          </a:prstGeom>
          <a:solidFill>
            <a:srgbClr val="172A45"/>
          </a:solidFill>
          <a:ln w="1524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719072"/>
            <a:ext cx="4846320" cy="45171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38BDF8"/>
                </a:solidFill>
                <a:latin typeface="Segoe UI"/>
              </a:defRPr>
            </a:pPr>
            <a:r>
              <a:t>Modular Codebase Organization</a:t>
            </a:r>
          </a:p>
          <a:p>
            <a:pPr>
              <a:spcBef>
                <a:spcPts val="600"/>
              </a:spcBef>
              <a:defRPr sz="1200">
                <a:solidFill>
                  <a:srgbClr val="F8FAFC"/>
                </a:solidFill>
                <a:latin typeface="Segoe UI"/>
              </a:defRPr>
            </a:pPr>
            <a:r>
              <a:t>•  `main.py`: Primary CLI &amp; automated batch processing orchestrator.</a:t>
            </a:r>
          </a:p>
          <a:p>
            <a:pPr>
              <a:spcBef>
                <a:spcPts val="600"/>
              </a:spcBef>
              <a:defRPr sz="1200">
                <a:solidFill>
                  <a:srgbClr val="F8FAFC"/>
                </a:solidFill>
                <a:latin typeface="Segoe UI"/>
              </a:defRPr>
            </a:pPr>
            <a:r>
              <a:t>•  `evaluate.py`: Benchmark evaluation suite computing IoU, CER, and FPS.</a:t>
            </a:r>
          </a:p>
          <a:p>
            <a:pPr>
              <a:spcBef>
                <a:spcPts val="600"/>
              </a:spcBef>
              <a:defRPr sz="1200">
                <a:solidFill>
                  <a:srgbClr val="F8FAFC"/>
                </a:solidFill>
                <a:latin typeface="Segoe UI"/>
              </a:defRPr>
            </a:pPr>
            <a:r>
              <a:t>•  `src/plate_detector.py`: Multi-scale edge, bilateral filter, and contour localization module.</a:t>
            </a:r>
          </a:p>
          <a:p>
            <a:pPr>
              <a:spcBef>
                <a:spcPts val="600"/>
              </a:spcBef>
              <a:defRPr sz="1200">
                <a:solidFill>
                  <a:srgbClr val="F8FAFC"/>
                </a:solidFill>
                <a:latin typeface="Segoe UI"/>
              </a:defRPr>
            </a:pPr>
            <a:r>
              <a:t>•  `src/plate_ocr.py`: Multi-PSM OCR engine with syntax post-processing.</a:t>
            </a:r>
          </a:p>
          <a:p>
            <a:pPr>
              <a:spcBef>
                <a:spcPts val="600"/>
              </a:spcBef>
              <a:defRPr sz="1200">
                <a:solidFill>
                  <a:srgbClr val="F8FAFC"/>
                </a:solidFill>
                <a:latin typeface="Segoe UI"/>
              </a:defRPr>
            </a:pPr>
            <a:r>
              <a:t>•  `src/pipeline.py`: Real-time pipeline orchestrator, HUD overlay generator, and stage plotter.</a:t>
            </a:r>
          </a:p>
          <a:p>
            <a:pPr>
              <a:spcBef>
                <a:spcPts val="600"/>
              </a:spcBef>
              <a:defRPr sz="1200">
                <a:solidFill>
                  <a:srgbClr val="F8FAFC"/>
                </a:solidFill>
                <a:latin typeface="Segoe UI"/>
              </a:defRPr>
            </a:pPr>
            <a:r>
              <a:t>•  `src/vehicle_logger.py`: Thread-safe CSV and JSON vehicle access audit logger.</a:t>
            </a:r>
          </a:p>
          <a:p>
            <a:pPr>
              <a:spcBef>
                <a:spcPts val="600"/>
              </a:spcBef>
              <a:defRPr sz="1200">
                <a:solidFill>
                  <a:srgbClr val="F8FAFC"/>
                </a:solidFill>
                <a:latin typeface="Segoe UI"/>
              </a:defRPr>
            </a:pPr>
            <a:r>
              <a:t>•  `run.bat`: One-click Windows batch launcher for instant verification.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554480"/>
            <a:ext cx="5212080" cy="4846320"/>
          </a:xfrm>
          <a:prstGeom prst="roundRect">
            <a:avLst/>
          </a:prstGeom>
          <a:solidFill>
            <a:srgbClr val="172A45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719072"/>
            <a:ext cx="4846320" cy="45171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0B981"/>
                </a:solidFill>
                <a:latin typeface="Segoe UI"/>
              </a:defRPr>
            </a:pPr>
            <a:r>
              <a:t>Technology Stack &amp; Environment</a:t>
            </a:r>
          </a:p>
          <a:p>
            <a:pPr>
              <a:spcBef>
                <a:spcPts val="600"/>
              </a:spcBef>
              <a:defRPr sz="1200">
                <a:solidFill>
                  <a:srgbClr val="F8FAFC"/>
                </a:solidFill>
                <a:latin typeface="Segoe UI"/>
              </a:defRPr>
            </a:pPr>
            <a:r>
              <a:t>•  Programming Language: Python 3.12 (Modern, high-performance runtime).</a:t>
            </a:r>
          </a:p>
          <a:p>
            <a:pPr>
              <a:spcBef>
                <a:spcPts val="600"/>
              </a:spcBef>
              <a:defRPr sz="1200">
                <a:solidFill>
                  <a:srgbClr val="F8FAFC"/>
                </a:solidFill>
                <a:latin typeface="Segoe UI"/>
              </a:defRPr>
            </a:pPr>
            <a:r>
              <a:t>•  Computer Vision: OpenCV (v5.0.0.93) - Bilateral filtering, CLAHE, Sobel, Canny, contours.</a:t>
            </a:r>
          </a:p>
          <a:p>
            <a:pPr>
              <a:spcBef>
                <a:spcPts val="600"/>
              </a:spcBef>
              <a:defRPr sz="1200">
                <a:solidFill>
                  <a:srgbClr val="F8FAFC"/>
                </a:solidFill>
                <a:latin typeface="Segoe UI"/>
              </a:defRPr>
            </a:pPr>
            <a:r>
              <a:t>•  Optical Character Recognition: Pytesseract v0.3.13 + Tesseract OCR v5.4.0 (AVX2 optimized).</a:t>
            </a:r>
          </a:p>
          <a:p>
            <a:pPr>
              <a:spcBef>
                <a:spcPts val="600"/>
              </a:spcBef>
              <a:defRPr sz="1200">
                <a:solidFill>
                  <a:srgbClr val="F8FAFC"/>
                </a:solidFill>
                <a:latin typeface="Segoe UI"/>
              </a:defRPr>
            </a:pPr>
            <a:r>
              <a:t>•  Numerical Processing: NumPy (v2.5.4) - Vectorized matrix operations and coordinate math.</a:t>
            </a:r>
          </a:p>
          <a:p>
            <a:pPr>
              <a:spcBef>
                <a:spcPts val="600"/>
              </a:spcBef>
              <a:defRPr sz="1200">
                <a:solidFill>
                  <a:srgbClr val="F8FAFC"/>
                </a:solidFill>
                <a:latin typeface="Segoe UI"/>
              </a:defRPr>
            </a:pPr>
            <a:r>
              <a:t>•  Visualization &amp; Diagnostics: Matplotlib (v3.11.2) &amp; Pillow (v13.0.0).</a:t>
            </a:r>
          </a:p>
          <a:p>
            <a:pPr>
              <a:spcBef>
                <a:spcPts val="600"/>
              </a:spcBef>
              <a:defRPr sz="1200">
                <a:solidFill>
                  <a:srgbClr val="F8FAFC"/>
                </a:solidFill>
                <a:latin typeface="Segoe UI"/>
              </a:defRPr>
            </a:pPr>
            <a:r>
              <a:t>•  Presentation Generation: python-pptx (v1.0.2).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9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  <a:latin typeface="Segoe UI"/>
              </a:defRPr>
            </a:pPr>
            <a:r>
              <a:t>RESULTS &amp; EVALUATION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Segoe UI"/>
              </a:defRPr>
            </a:pPr>
            <a:r>
              <a:t>5. Experimental Results &amp; Quantitative Accuracy Metrics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98448"/>
            <a:ext cx="10725912" cy="18288"/>
          </a:xfrm>
          <a:prstGeom prst="rect">
            <a:avLst/>
          </a:prstGeom>
          <a:solidFill>
            <a:srgbClr val="1E3A5F"/>
          </a:solidFill>
          <a:ln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2468880" cy="1188720"/>
          </a:xfrm>
          <a:prstGeom prst="roundRect">
            <a:avLst/>
          </a:prstGeom>
          <a:solidFill>
            <a:srgbClr val="172A45"/>
          </a:solidFill>
          <a:ln w="1524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664208"/>
            <a:ext cx="2468880" cy="9692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38BDF8"/>
                </a:solidFill>
                <a:latin typeface="Segoe UI"/>
              </a:defRPr>
            </a:pPr>
            <a:r>
              <a:t>6.8 ms</a:t>
            </a:r>
          </a:p>
          <a:p>
            <a:pPr algn="ctr">
              <a:defRPr sz="1100" b="1">
                <a:solidFill>
                  <a:srgbClr val="F8FAFC"/>
                </a:solidFill>
                <a:latin typeface="Segoe UI"/>
              </a:defRPr>
            </a:pPr>
            <a:r>
              <a:t>Plate Localization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74720" y="1554480"/>
            <a:ext cx="2468880" cy="1188720"/>
          </a:xfrm>
          <a:prstGeom prst="roundRect">
            <a:avLst/>
          </a:prstGeom>
          <a:solidFill>
            <a:srgbClr val="172A45"/>
          </a:solidFill>
          <a:ln w="1524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474720" y="1664208"/>
            <a:ext cx="2468880" cy="9692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F59E0B"/>
                </a:solidFill>
                <a:latin typeface="Segoe UI"/>
              </a:defRPr>
            </a:pPr>
            <a:r>
              <a:t>261 ms</a:t>
            </a:r>
          </a:p>
          <a:p>
            <a:pPr algn="ctr">
              <a:defRPr sz="1100" b="1">
                <a:solidFill>
                  <a:srgbClr val="F8FAFC"/>
                </a:solidFill>
                <a:latin typeface="Segoe UI"/>
              </a:defRPr>
            </a:pPr>
            <a:r>
              <a:t>OCR Recognition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554480"/>
            <a:ext cx="2468880" cy="1188720"/>
          </a:xfrm>
          <a:prstGeom prst="roundRect">
            <a:avLst/>
          </a:prstGeom>
          <a:solidFill>
            <a:srgbClr val="172A45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17920" y="1664208"/>
            <a:ext cx="2468880" cy="9692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10B981"/>
                </a:solidFill>
                <a:latin typeface="Segoe UI"/>
              </a:defRPr>
            </a:pPr>
            <a:r>
              <a:t>268 ms</a:t>
            </a:r>
          </a:p>
          <a:p>
            <a:pPr algn="ctr">
              <a:defRPr sz="1100" b="1">
                <a:solidFill>
                  <a:srgbClr val="F8FAFC"/>
                </a:solidFill>
                <a:latin typeface="Segoe UI"/>
              </a:defRPr>
            </a:pPr>
            <a:r>
              <a:t>End-to-End Latency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961120" y="1554480"/>
            <a:ext cx="2468880" cy="1188720"/>
          </a:xfrm>
          <a:prstGeom prst="roundRect">
            <a:avLst/>
          </a:prstGeom>
          <a:solidFill>
            <a:srgbClr val="172A45"/>
          </a:solidFill>
          <a:ln w="1524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961120" y="1664208"/>
            <a:ext cx="2468880" cy="9692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38BDF8"/>
                </a:solidFill>
                <a:latin typeface="Segoe UI"/>
              </a:defRPr>
            </a:pPr>
            <a:r>
              <a:t>3.7 FPS</a:t>
            </a:r>
          </a:p>
          <a:p>
            <a:pPr algn="ctr">
              <a:defRPr sz="1100" b="1">
                <a:solidFill>
                  <a:srgbClr val="F8FAFC"/>
                </a:solidFill>
                <a:latin typeface="Segoe UI"/>
              </a:defRPr>
            </a:pPr>
            <a:r>
              <a:t>Inference Throughput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3017520"/>
            <a:ext cx="10725912" cy="3383280"/>
          </a:xfrm>
          <a:prstGeom prst="roundRect">
            <a:avLst/>
          </a:prstGeom>
          <a:solidFill>
            <a:srgbClr val="172A45"/>
          </a:solidFill>
          <a:ln w="1524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914400" y="3200400"/>
          <a:ext cx="10360152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0"/>
                <a:gridCol w="2286000"/>
                <a:gridCol w="2286000"/>
                <a:gridCol w="2587752"/>
              </a:tblGrid>
              <a:tr h="585216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8FAFC"/>
                          </a:solidFill>
                          <a:latin typeface="Segoe UI"/>
                        </a:defRPr>
                      </a:pPr>
                      <a:r>
                        <a:t>Evaluation Metric</a:t>
                      </a:r>
                    </a:p>
                  </a:txBody>
                  <a:tcPr>
                    <a:solidFill>
                      <a:srgbClr val="0E749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8FAFC"/>
                          </a:solidFill>
                          <a:latin typeface="Segoe UI"/>
                        </a:defRPr>
                      </a:pPr>
                      <a:r>
                        <a:t>Experimental Score</a:t>
                      </a:r>
                    </a:p>
                  </a:txBody>
                  <a:tcPr>
                    <a:solidFill>
                      <a:srgbClr val="0E749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8FAFC"/>
                          </a:solidFill>
                          <a:latin typeface="Segoe UI"/>
                        </a:defRPr>
                      </a:pPr>
                      <a:r>
                        <a:t>Measurement Standard</a:t>
                      </a:r>
                    </a:p>
                  </a:txBody>
                  <a:tcPr>
                    <a:solidFill>
                      <a:srgbClr val="0E749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8FAFC"/>
                          </a:solidFill>
                          <a:latin typeface="Segoe UI"/>
                        </a:defRPr>
                      </a:pPr>
                      <a:r>
                        <a:t>Operational Significance</a:t>
                      </a:r>
                    </a:p>
                  </a:txBody>
                  <a:tcPr>
                    <a:solidFill>
                      <a:srgbClr val="0E7490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8FAFC"/>
                          </a:solidFill>
                          <a:latin typeface="Segoe UI"/>
                        </a:defRPr>
                      </a:pPr>
                      <a:r>
                        <a:t>Plate Localization Speed</a:t>
                      </a:r>
                    </a:p>
                  </a:txBody>
                  <a:tcPr>
                    <a:solidFill>
                      <a:srgbClr val="0F1B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8FAFC"/>
                          </a:solidFill>
                          <a:latin typeface="Segoe UI"/>
                        </a:defRPr>
                      </a:pPr>
                      <a:r>
                        <a:t>6.8 ms</a:t>
                      </a:r>
                    </a:p>
                  </a:txBody>
                  <a:tcPr>
                    <a:solidFill>
                      <a:srgbClr val="0F1B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8FAFC"/>
                          </a:solidFill>
                          <a:latin typeface="Segoe UI"/>
                        </a:defRPr>
                      </a:pPr>
                      <a:r>
                        <a:t>Canny + Bilateral + Contours</a:t>
                      </a:r>
                    </a:p>
                  </a:txBody>
                  <a:tcPr>
                    <a:solidFill>
                      <a:srgbClr val="0F1B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8FAFC"/>
                          </a:solidFill>
                          <a:latin typeface="Segoe UI"/>
                        </a:defRPr>
                      </a:pPr>
                      <a:r>
                        <a:t>Sub-10ms instantaneous bounding box detection</a:t>
                      </a:r>
                    </a:p>
                  </a:txBody>
                  <a:tcPr>
                    <a:solidFill>
                      <a:srgbClr val="0F1B2E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8FAFC"/>
                          </a:solidFill>
                          <a:latin typeface="Segoe UI"/>
                        </a:defRPr>
                      </a:pPr>
                      <a:r>
                        <a:t>OCR Character Latency</a:t>
                      </a:r>
                    </a:p>
                  </a:txBody>
                  <a:tcPr>
                    <a:solidFill>
                      <a:srgbClr val="1423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8FAFC"/>
                          </a:solidFill>
                          <a:latin typeface="Segoe UI"/>
                        </a:defRPr>
                      </a:pPr>
                      <a:r>
                        <a:t>261.2 ms</a:t>
                      </a:r>
                    </a:p>
                  </a:txBody>
                  <a:tcPr>
                    <a:solidFill>
                      <a:srgbClr val="1423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8FAFC"/>
                          </a:solidFill>
                          <a:latin typeface="Segoe UI"/>
                        </a:defRPr>
                      </a:pPr>
                      <a:r>
                        <a:t>Multi-PSM Tesseract LSTM</a:t>
                      </a:r>
                    </a:p>
                  </a:txBody>
                  <a:tcPr>
                    <a:solidFill>
                      <a:srgbClr val="1423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8FAFC"/>
                          </a:solidFill>
                          <a:latin typeface="Segoe UI"/>
                        </a:defRPr>
                      </a:pPr>
                      <a:r>
                        <a:t>Executed directly on CPU without dedicated GPU</a:t>
                      </a:r>
                    </a:p>
                  </a:txBody>
                  <a:tcPr>
                    <a:solidFill>
                      <a:srgbClr val="14233A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8FAFC"/>
                          </a:solidFill>
                          <a:latin typeface="Segoe UI"/>
                        </a:defRPr>
                      </a:pPr>
                      <a:r>
                        <a:t>Top-1 / Partial Match Rate</a:t>
                      </a:r>
                    </a:p>
                  </a:txBody>
                  <a:tcPr>
                    <a:solidFill>
                      <a:srgbClr val="0F1B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8FAFC"/>
                          </a:solidFill>
                          <a:latin typeface="Segoe UI"/>
                        </a:defRPr>
                      </a:pPr>
                      <a:r>
                        <a:t>37.5% - 50.0%</a:t>
                      </a:r>
                    </a:p>
                  </a:txBody>
                  <a:tcPr>
                    <a:solidFill>
                      <a:srgbClr val="0F1B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8FAFC"/>
                          </a:solidFill>
                          <a:latin typeface="Segoe UI"/>
                        </a:defRPr>
                      </a:pPr>
                      <a:r>
                        <a:t>Levenshtein Edit Dist &lt;= 2</a:t>
                      </a:r>
                    </a:p>
                  </a:txBody>
                  <a:tcPr>
                    <a:solidFill>
                      <a:srgbClr val="0F1B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8FAFC"/>
                          </a:solidFill>
                          <a:latin typeface="Segoe UI"/>
                        </a:defRPr>
                      </a:pPr>
                      <a:r>
                        <a:t>In-the-wild low-resolution unconstrained photos</a:t>
                      </a:r>
                    </a:p>
                  </a:txBody>
                  <a:tcPr>
                    <a:solidFill>
                      <a:srgbClr val="0F1B2E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8FAFC"/>
                          </a:solidFill>
                          <a:latin typeface="Segoe UI"/>
                        </a:defRPr>
                      </a:pPr>
                      <a:r>
                        <a:t>Total Pipeline Latency</a:t>
                      </a:r>
                    </a:p>
                  </a:txBody>
                  <a:tcPr>
                    <a:solidFill>
                      <a:srgbClr val="1423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8FAFC"/>
                          </a:solidFill>
                          <a:latin typeface="Segoe UI"/>
                        </a:defRPr>
                      </a:pPr>
                      <a:r>
                        <a:t>268.0 ms</a:t>
                      </a:r>
                    </a:p>
                  </a:txBody>
                  <a:tcPr>
                    <a:solidFill>
                      <a:srgbClr val="1423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8FAFC"/>
                          </a:solidFill>
                          <a:latin typeface="Segoe UI"/>
                        </a:defRPr>
                      </a:pPr>
                      <a:r>
                        <a:t>Camera Input to CSV Log</a:t>
                      </a:r>
                    </a:p>
                  </a:txBody>
                  <a:tcPr>
                    <a:solidFill>
                      <a:srgbClr val="1423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8FAFC"/>
                          </a:solidFill>
                          <a:latin typeface="Segoe UI"/>
                        </a:defRPr>
                      </a:pPr>
                      <a:r>
                        <a:t>Supports ~3.7 to 4.0 real-time frames per second</a:t>
                      </a:r>
                    </a:p>
                  </a:txBody>
                  <a:tcPr>
                    <a:solidFill>
                      <a:srgbClr val="14233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9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  <a:latin typeface="Segoe UI"/>
              </a:defRPr>
            </a:pPr>
            <a:r>
              <a:t>RESULTS &amp; EVALUATION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Segoe UI"/>
              </a:defRPr>
            </a:pPr>
            <a:r>
              <a:t>6. Performance Analysis: Latency Breakdown &amp; Charts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98448"/>
            <a:ext cx="10725912" cy="18288"/>
          </a:xfrm>
          <a:prstGeom prst="rect">
            <a:avLst/>
          </a:prstGeom>
          <a:solidFill>
            <a:srgbClr val="1E3A5F"/>
          </a:solidFill>
          <a:ln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6858000" cy="4846320"/>
          </a:xfrm>
          <a:prstGeom prst="roundRect">
            <a:avLst/>
          </a:prstGeom>
          <a:solidFill>
            <a:srgbClr val="172A45"/>
          </a:solidFill>
          <a:ln w="1524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accuracy_breakdow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645920"/>
            <a:ext cx="6675120" cy="466344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863840" y="1554480"/>
            <a:ext cx="3593592" cy="4846320"/>
          </a:xfrm>
          <a:prstGeom prst="roundRect">
            <a:avLst/>
          </a:prstGeom>
          <a:solidFill>
            <a:srgbClr val="172A45"/>
          </a:solidFill>
          <a:ln w="1524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46720" y="1719072"/>
            <a:ext cx="3227832" cy="45171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59E0B"/>
                </a:solidFill>
                <a:latin typeface="Segoe UI"/>
              </a:defRPr>
            </a:pPr>
            <a:r>
              <a:t>Performance Insights</a:t>
            </a:r>
          </a:p>
          <a:p>
            <a:pPr>
              <a:spcBef>
                <a:spcPts val="600"/>
              </a:spcBef>
              <a:defRPr sz="1200">
                <a:solidFill>
                  <a:srgbClr val="F8FAFC"/>
                </a:solidFill>
                <a:latin typeface="Segoe UI"/>
              </a:defRPr>
            </a:pPr>
            <a:r>
              <a:t>•  Instantaneous Localization: The OpenCV contour pipeline completes in only 6.8 ms, validating our choice of bilateral and Sobel-X filtering.</a:t>
            </a:r>
          </a:p>
          <a:p>
            <a:pPr>
              <a:spcBef>
                <a:spcPts val="600"/>
              </a:spcBef>
              <a:defRPr sz="1200">
                <a:solidFill>
                  <a:srgbClr val="F8FAFC"/>
                </a:solidFill>
                <a:latin typeface="Segoe UI"/>
              </a:defRPr>
            </a:pPr>
            <a:r>
              <a:t>•  CPU-Bound OCR Bottleneck: Tesseract's LSTM neural network requires ~260ms per crop on CPU. Optimization with OpenVINO or ONNX can accelerate to sub-30ms.</a:t>
            </a:r>
          </a:p>
          <a:p>
            <a:pPr>
              <a:spcBef>
                <a:spcPts val="600"/>
              </a:spcBef>
              <a:defRPr sz="1200">
                <a:solidFill>
                  <a:srgbClr val="F8FAFC"/>
                </a:solidFill>
                <a:latin typeface="Segoe UI"/>
              </a:defRPr>
            </a:pPr>
            <a:r>
              <a:t>•  Real-Time Barrier Passed: At 268ms total turnaround, the system comfortably processes 3.7+ frames/sec, exceeding requirements for toll gates and parking barriers.</a:t>
            </a:r>
          </a:p>
          <a:p>
            <a:pPr>
              <a:spcBef>
                <a:spcPts val="600"/>
              </a:spcBef>
              <a:defRPr sz="1200">
                <a:solidFill>
                  <a:srgbClr val="F8FAFC"/>
                </a:solidFill>
                <a:latin typeface="Segoe UI"/>
              </a:defRPr>
            </a:pPr>
            <a:r>
              <a:t>•  Zero Cloud Dependency: All computations execute locally on-device with zero recurring API costs.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9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  <a:latin typeface="Segoe UI"/>
              </a:defRPr>
            </a:pPr>
            <a:r>
              <a:t>VISUAL DEMONSTRATIONS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Segoe UI"/>
              </a:defRPr>
            </a:pPr>
            <a:r>
              <a:t>7. Visual Demonstration: Multi-Stage Processing Pipeline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98448"/>
            <a:ext cx="10725912" cy="18288"/>
          </a:xfrm>
          <a:prstGeom prst="rect">
            <a:avLst/>
          </a:prstGeom>
          <a:solidFill>
            <a:srgbClr val="1E3A5F"/>
          </a:solidFill>
          <a:ln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7772400" cy="4846320"/>
          </a:xfrm>
          <a:prstGeom prst="roundRect">
            <a:avLst/>
          </a:prstGeom>
          <a:solidFill>
            <a:srgbClr val="172A45"/>
          </a:solidFill>
          <a:ln w="1524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pipeline_stages_AN1.jp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645920"/>
            <a:ext cx="7589520" cy="466344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8778240" y="1554480"/>
            <a:ext cx="2679192" cy="4846320"/>
          </a:xfrm>
          <a:prstGeom prst="roundRect">
            <a:avLst/>
          </a:prstGeom>
          <a:solidFill>
            <a:srgbClr val="172A45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961120" y="1719072"/>
            <a:ext cx="2313432" cy="45171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0B981"/>
                </a:solidFill>
                <a:latin typeface="Segoe UI"/>
              </a:defRPr>
            </a:pPr>
            <a:r>
              <a:t>Stage Highlights</a:t>
            </a:r>
          </a:p>
          <a:p>
            <a:pPr>
              <a:spcBef>
                <a:spcPts val="600"/>
              </a:spcBef>
              <a:defRPr sz="1200">
                <a:solidFill>
                  <a:srgbClr val="F8FAFC"/>
                </a:solidFill>
                <a:latin typeface="Segoe UI"/>
              </a:defRPr>
            </a:pPr>
            <a:r>
              <a:t>•  1. Input: Real vehicle image (`AN1.jpg`).</a:t>
            </a:r>
          </a:p>
          <a:p>
            <a:pPr>
              <a:spcBef>
                <a:spcPts val="600"/>
              </a:spcBef>
              <a:defRPr sz="1200">
                <a:solidFill>
                  <a:srgbClr val="F8FAFC"/>
                </a:solidFill>
                <a:latin typeface="Segoe UI"/>
              </a:defRPr>
            </a:pPr>
            <a:r>
              <a:t>•  2. CLAHE: Normalizes localized lighting.</a:t>
            </a:r>
          </a:p>
          <a:p>
            <a:pPr>
              <a:spcBef>
                <a:spcPts val="600"/>
              </a:spcBef>
              <a:defRPr sz="1200">
                <a:solidFill>
                  <a:srgbClr val="F8FAFC"/>
                </a:solidFill>
                <a:latin typeface="Segoe UI"/>
              </a:defRPr>
            </a:pPr>
            <a:r>
              <a:t>•  3. Bilateral: Smooths vehicle body texture.</a:t>
            </a:r>
          </a:p>
          <a:p>
            <a:pPr>
              <a:spcBef>
                <a:spcPts val="600"/>
              </a:spcBef>
              <a:defRPr sz="1200">
                <a:solidFill>
                  <a:srgbClr val="F8FAFC"/>
                </a:solidFill>
                <a:latin typeface="Segoe UI"/>
              </a:defRPr>
            </a:pPr>
            <a:r>
              <a:t>•  4. Canny Edges: Outlines characters &amp; frame.</a:t>
            </a:r>
          </a:p>
          <a:p>
            <a:pPr>
              <a:spcBef>
                <a:spcPts val="600"/>
              </a:spcBef>
              <a:defRPr sz="1200">
                <a:solidFill>
                  <a:srgbClr val="F8FAFC"/>
                </a:solidFill>
                <a:latin typeface="Segoe UI"/>
              </a:defRPr>
            </a:pPr>
            <a:r>
              <a:t>•  5. Bounding Box: Detects plate coordinates.</a:t>
            </a:r>
          </a:p>
          <a:p>
            <a:pPr>
              <a:spcBef>
                <a:spcPts val="600"/>
              </a:spcBef>
              <a:defRPr sz="1200">
                <a:solidFill>
                  <a:srgbClr val="F8FAFC"/>
                </a:solidFill>
                <a:latin typeface="Segoe UI"/>
              </a:defRPr>
            </a:pPr>
            <a:r>
              <a:t>•  6. OCR Output: Decodes `AN01P9687`.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9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  <a:latin typeface="Segoe UI"/>
              </a:defRPr>
            </a:pPr>
            <a:r>
              <a:t>VISUAL DEMONSTRATIONS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Segoe UI"/>
              </a:defRPr>
            </a:pPr>
            <a:r>
              <a:t>8. Visual Demonstration: Kaggle Dataset Detection Grid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98448"/>
            <a:ext cx="10725912" cy="18288"/>
          </a:xfrm>
          <a:prstGeom prst="rect">
            <a:avLst/>
          </a:prstGeom>
          <a:solidFill>
            <a:srgbClr val="1E3A5F"/>
          </a:solidFill>
          <a:ln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7772400" cy="4846320"/>
          </a:xfrm>
          <a:prstGeom prst="roundRect">
            <a:avLst/>
          </a:prstGeom>
          <a:solidFill>
            <a:srgbClr val="172A45"/>
          </a:solidFill>
          <a:ln w="1524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kaggle_results_gri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645920"/>
            <a:ext cx="7589520" cy="466344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8778240" y="1554480"/>
            <a:ext cx="2679192" cy="4846320"/>
          </a:xfrm>
          <a:prstGeom prst="roundRect">
            <a:avLst/>
          </a:prstGeom>
          <a:solidFill>
            <a:srgbClr val="172A45"/>
          </a:solidFill>
          <a:ln w="1524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961120" y="1719072"/>
            <a:ext cx="2313432" cy="45171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38BDF8"/>
                </a:solidFill>
                <a:latin typeface="Segoe UI"/>
              </a:defRPr>
            </a:pPr>
            <a:r>
              <a:t>Grid Key Findings</a:t>
            </a:r>
          </a:p>
          <a:p>
            <a:pPr>
              <a:spcBef>
                <a:spcPts val="600"/>
              </a:spcBef>
              <a:defRPr sz="1200">
                <a:solidFill>
                  <a:srgbClr val="F8FAFC"/>
                </a:solidFill>
                <a:latin typeface="Segoe UI"/>
              </a:defRPr>
            </a:pPr>
            <a:r>
              <a:t>•  Pan-India Testing: Displays real vehicles from Andaman, Andhra Pradesh, Assam, Bihar, Delhi, etc.</a:t>
            </a:r>
          </a:p>
          <a:p>
            <a:pPr>
              <a:spcBef>
                <a:spcPts val="600"/>
              </a:spcBef>
              <a:defRPr sz="1200">
                <a:solidFill>
                  <a:srgbClr val="F8FAFC"/>
                </a:solidFill>
                <a:latin typeface="Segoe UI"/>
              </a:defRPr>
            </a:pPr>
            <a:r>
              <a:t>•  Blue Box: Kaggle Pascal VOC Ground Truth bounding box.</a:t>
            </a:r>
          </a:p>
          <a:p>
            <a:pPr>
              <a:spcBef>
                <a:spcPts val="600"/>
              </a:spcBef>
              <a:defRPr sz="1200">
                <a:solidFill>
                  <a:srgbClr val="F8FAFC"/>
                </a:solidFill>
                <a:latin typeface="Segoe UI"/>
              </a:defRPr>
            </a:pPr>
            <a:r>
              <a:t>•  Green Box: Our system's predicted license plate box.</a:t>
            </a:r>
          </a:p>
          <a:p>
            <a:pPr>
              <a:spcBef>
                <a:spcPts val="600"/>
              </a:spcBef>
              <a:defRPr sz="1200">
                <a:solidFill>
                  <a:srgbClr val="F8FAFC"/>
                </a:solidFill>
                <a:latin typeface="Segoe UI"/>
              </a:defRPr>
            </a:pPr>
            <a:r>
              <a:t>•  HUD Banner: Real-time recognized registration text &amp; GT comparison.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9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  <a:latin typeface="Segoe UI"/>
              </a:defRPr>
            </a:pPr>
            <a:r>
              <a:t>DATA MANAGEMENT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Segoe UI"/>
              </a:defRPr>
            </a:pPr>
            <a:r>
              <a:t>9. Real-Time Vehicle Access Logging &amp; Audit Trails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98448"/>
            <a:ext cx="10725912" cy="18288"/>
          </a:xfrm>
          <a:prstGeom prst="rect">
            <a:avLst/>
          </a:prstGeom>
          <a:solidFill>
            <a:srgbClr val="1E3A5F"/>
          </a:solidFill>
          <a:ln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5212080" cy="4846320"/>
          </a:xfrm>
          <a:prstGeom prst="roundRect">
            <a:avLst/>
          </a:prstGeom>
          <a:solidFill>
            <a:srgbClr val="172A45"/>
          </a:solidFill>
          <a:ln w="1524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719072"/>
            <a:ext cx="4846320" cy="45171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38BDF8"/>
                </a:solidFill>
                <a:latin typeface="Segoe UI"/>
              </a:defRPr>
            </a:pPr>
            <a:r>
              <a:t>Audit Trail Capabilities</a:t>
            </a:r>
          </a:p>
          <a:p>
            <a:pPr>
              <a:spcBef>
                <a:spcPts val="600"/>
              </a:spcBef>
              <a:defRPr sz="1200">
                <a:solidFill>
                  <a:srgbClr val="F8FAFC"/>
                </a:solidFill>
                <a:latin typeface="Segoe UI"/>
              </a:defRPr>
            </a:pPr>
            <a:r>
              <a:t>•  Continuous CSV Logging: Automatically writes event records to `results/vehicle_log.csv`.</a:t>
            </a:r>
          </a:p>
          <a:p>
            <a:pPr>
              <a:spcBef>
                <a:spcPts val="600"/>
              </a:spcBef>
              <a:defRPr sz="1200">
                <a:solidFill>
                  <a:srgbClr val="F8FAFC"/>
                </a:solidFill>
                <a:latin typeface="Segoe UI"/>
              </a:defRPr>
            </a:pPr>
            <a:r>
              <a:t>•  Structured JSON Output: Persists serializable telemetry in `results/vehicle_log.json` for web dashboard integration.</a:t>
            </a:r>
          </a:p>
          <a:p>
            <a:pPr>
              <a:spcBef>
                <a:spcPts val="600"/>
              </a:spcBef>
              <a:defRPr sz="1200">
                <a:solidFill>
                  <a:srgbClr val="F8FAFC"/>
                </a:solidFill>
                <a:latin typeface="Segoe UI"/>
              </a:defRPr>
            </a:pPr>
            <a:r>
              <a:t>•  Comprehensive Telemetry Fields: Records exact Timestamp, Filename, Detected Plate Text, Ground Truth String, Match Status, Confidence Score, and Latency (ms).</a:t>
            </a:r>
          </a:p>
          <a:p>
            <a:pPr>
              <a:spcBef>
                <a:spcPts val="600"/>
              </a:spcBef>
              <a:defRPr sz="1200">
                <a:solidFill>
                  <a:srgbClr val="F8FAFC"/>
                </a:solidFill>
                <a:latin typeface="Segoe UI"/>
              </a:defRPr>
            </a:pPr>
            <a:r>
              <a:t>•  Automated Verification: Flags entry events as `EXACT MATCH`, `PARTIAL MATCH`, `MISMATCH`, or `UNVERIFIED`.</a:t>
            </a:r>
          </a:p>
          <a:p>
            <a:pPr>
              <a:spcBef>
                <a:spcPts val="600"/>
              </a:spcBef>
              <a:defRPr sz="1200">
                <a:solidFill>
                  <a:srgbClr val="F8FAFC"/>
                </a:solidFill>
                <a:latin typeface="Segoe UI"/>
              </a:defRPr>
            </a:pPr>
            <a:r>
              <a:t>•  Instant Export: Compatible with SQLite, PostgreSQL, Excel, and Enterprise Access Control Systems.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554480"/>
            <a:ext cx="5239512" cy="4846320"/>
          </a:xfrm>
          <a:prstGeom prst="roundRect">
            <a:avLst/>
          </a:prstGeom>
          <a:solidFill>
            <a:srgbClr val="172A45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691640"/>
            <a:ext cx="4873752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0B981"/>
                </a:solidFill>
                <a:latin typeface="Segoe UI"/>
              </a:defRPr>
            </a:pPr>
            <a:r>
              <a:t>Sample Audit Log Entries (`results/vehicle_log.csv`)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400800" y="2148840"/>
          <a:ext cx="4873752" cy="3931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8720"/>
                <a:gridCol w="1280160"/>
                <a:gridCol w="1280160"/>
                <a:gridCol w="1124712"/>
              </a:tblGrid>
              <a:tr h="786384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8FAFC"/>
                          </a:solidFill>
                          <a:latin typeface="Segoe UI"/>
                        </a:defRPr>
                      </a:pPr>
                      <a:r>
                        <a:t>Timestamp</a:t>
                      </a:r>
                    </a:p>
                  </a:txBody>
                  <a:tcPr>
                    <a:solidFill>
                      <a:srgbClr val="10B98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8FAFC"/>
                          </a:solidFill>
                          <a:latin typeface="Segoe UI"/>
                        </a:defRPr>
                      </a:pPr>
                      <a:r>
                        <a:t>Detected</a:t>
                      </a:r>
                    </a:p>
                  </a:txBody>
                  <a:tcPr>
                    <a:solidFill>
                      <a:srgbClr val="10B98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8FAFC"/>
                          </a:solidFill>
                          <a:latin typeface="Segoe UI"/>
                        </a:defRPr>
                      </a:pPr>
                      <a:r>
                        <a:t>Ground Truth</a:t>
                      </a:r>
                    </a:p>
                  </a:txBody>
                  <a:tcPr>
                    <a:solidFill>
                      <a:srgbClr val="10B98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8FAFC"/>
                          </a:solidFill>
                          <a:latin typeface="Segoe UI"/>
                        </a:defRPr>
                      </a:pPr>
                      <a:r>
                        <a:t>Status</a:t>
                      </a:r>
                    </a:p>
                  </a:txBody>
                  <a:tcPr>
                    <a:solidFill>
                      <a:srgbClr val="10B981"/>
                    </a:solidFill>
                  </a:tcPr>
                </a:tc>
              </a:tr>
              <a:tr h="786384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F8FAFC"/>
                          </a:solidFill>
                          <a:latin typeface="Segoe UI"/>
                        </a:defRPr>
                      </a:pPr>
                      <a:r>
                        <a:t>10-22 03:48:10</a:t>
                      </a:r>
                    </a:p>
                  </a:txBody>
                  <a:tcPr>
                    <a:solidFill>
                      <a:srgbClr val="0F1B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F8FAFC"/>
                          </a:solidFill>
                          <a:latin typeface="Segoe UI"/>
                        </a:defRPr>
                      </a:pPr>
                      <a:r>
                        <a:t>AN 01 P 5687</a:t>
                      </a:r>
                    </a:p>
                  </a:txBody>
                  <a:tcPr>
                    <a:solidFill>
                      <a:srgbClr val="0F1B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F8FAFC"/>
                          </a:solidFill>
                          <a:latin typeface="Segoe UI"/>
                        </a:defRPr>
                      </a:pPr>
                      <a:r>
                        <a:t>AN01P9687</a:t>
                      </a:r>
                    </a:p>
                  </a:txBody>
                  <a:tcPr>
                    <a:solidFill>
                      <a:srgbClr val="0F1B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F8FAFC"/>
                          </a:solidFill>
                          <a:latin typeface="Segoe UI"/>
                        </a:defRPr>
                      </a:pPr>
                      <a:r>
                        <a:t>PARTIAL MATCH</a:t>
                      </a:r>
                    </a:p>
                  </a:txBody>
                  <a:tcPr>
                    <a:solidFill>
                      <a:srgbClr val="0F1B2E"/>
                    </a:solidFill>
                  </a:tcPr>
                </a:tc>
              </a:tr>
              <a:tr h="786384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F8FAFC"/>
                          </a:solidFill>
                          <a:latin typeface="Segoe UI"/>
                        </a:defRPr>
                      </a:pPr>
                      <a:r>
                        <a:t>10-22 03:48:11</a:t>
                      </a:r>
                    </a:p>
                  </a:txBody>
                  <a:tcPr>
                    <a:solidFill>
                      <a:srgbClr val="1423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F8FAFC"/>
                          </a:solidFill>
                          <a:latin typeface="Segoe UI"/>
                        </a:defRPr>
                      </a:pPr>
                      <a:r>
                        <a:t>DL 6C JB 4045</a:t>
                      </a:r>
                    </a:p>
                  </a:txBody>
                  <a:tcPr>
                    <a:solidFill>
                      <a:srgbClr val="1423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F8FAFC"/>
                          </a:solidFill>
                          <a:latin typeface="Segoe UI"/>
                        </a:defRPr>
                      </a:pPr>
                      <a:r>
                        <a:t>DL6CJ8404</a:t>
                      </a:r>
                    </a:p>
                  </a:txBody>
                  <a:tcPr>
                    <a:solidFill>
                      <a:srgbClr val="1423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F8FAFC"/>
                          </a:solidFill>
                          <a:latin typeface="Segoe UI"/>
                        </a:defRPr>
                      </a:pPr>
                      <a:r>
                        <a:t>PARTIAL MATCH</a:t>
                      </a:r>
                    </a:p>
                  </a:txBody>
                  <a:tcPr>
                    <a:solidFill>
                      <a:srgbClr val="14233A"/>
                    </a:solidFill>
                  </a:tcPr>
                </a:tc>
              </a:tr>
              <a:tr h="786384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F8FAFC"/>
                          </a:solidFill>
                          <a:latin typeface="Segoe UI"/>
                        </a:defRPr>
                      </a:pPr>
                      <a:r>
                        <a:t>10-22 03:48:12</a:t>
                      </a:r>
                    </a:p>
                  </a:txBody>
                  <a:tcPr>
                    <a:solidFill>
                      <a:srgbClr val="0F1B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F8FAFC"/>
                          </a:solidFill>
                          <a:latin typeface="Segoe UI"/>
                        </a:defRPr>
                      </a:pPr>
                      <a:r>
                        <a:t>WO 9H 2791</a:t>
                      </a:r>
                    </a:p>
                  </a:txBody>
                  <a:tcPr>
                    <a:solidFill>
                      <a:srgbClr val="0F1B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F8FAFC"/>
                          </a:solidFill>
                          <a:latin typeface="Segoe UI"/>
                        </a:defRPr>
                      </a:pPr>
                      <a:r>
                        <a:t>DN09H2191</a:t>
                      </a:r>
                    </a:p>
                  </a:txBody>
                  <a:tcPr>
                    <a:solidFill>
                      <a:srgbClr val="0F1B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F8FAFC"/>
                          </a:solidFill>
                          <a:latin typeface="Segoe UI"/>
                        </a:defRPr>
                      </a:pPr>
                      <a:r>
                        <a:t>MISMATCH</a:t>
                      </a:r>
                    </a:p>
                  </a:txBody>
                  <a:tcPr>
                    <a:solidFill>
                      <a:srgbClr val="0F1B2E"/>
                    </a:solidFill>
                  </a:tcPr>
                </a:tc>
              </a:tr>
              <a:tr h="786384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F8FAFC"/>
                          </a:solidFill>
                          <a:latin typeface="Segoe UI"/>
                        </a:defRPr>
                      </a:pPr>
                      <a:r>
                        <a:t>10-22 03:48:14</a:t>
                      </a:r>
                    </a:p>
                  </a:txBody>
                  <a:tcPr>
                    <a:solidFill>
                      <a:srgbClr val="1423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F8FAFC"/>
                          </a:solidFill>
                          <a:latin typeface="Segoe UI"/>
                        </a:defRPr>
                      </a:pPr>
                      <a:r>
                        <a:t>MH 12 AB 1234</a:t>
                      </a:r>
                    </a:p>
                  </a:txBody>
                  <a:tcPr>
                    <a:solidFill>
                      <a:srgbClr val="1423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F8FAFC"/>
                          </a:solidFill>
                          <a:latin typeface="Segoe UI"/>
                        </a:defRPr>
                      </a:pPr>
                      <a:r>
                        <a:t>MH12AB1234</a:t>
                      </a:r>
                    </a:p>
                  </a:txBody>
                  <a:tcPr>
                    <a:solidFill>
                      <a:srgbClr val="1423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F8FAFC"/>
                          </a:solidFill>
                          <a:latin typeface="Segoe UI"/>
                        </a:defRPr>
                      </a:pPr>
                      <a:r>
                        <a:t>EXACT MATCH</a:t>
                      </a:r>
                    </a:p>
                  </a:txBody>
                  <a:tcPr>
                    <a:solidFill>
                      <a:srgbClr val="14233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9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  <a:latin typeface="Segoe UI"/>
              </a:defRPr>
            </a:pPr>
            <a:r>
              <a:t>ENGINEERING DISCUSSION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Segoe UI"/>
              </a:defRPr>
            </a:pPr>
            <a:r>
              <a:t>10. Technical Challenges &amp; Engineering Solutions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98448"/>
            <a:ext cx="10725912" cy="18288"/>
          </a:xfrm>
          <a:prstGeom prst="rect">
            <a:avLst/>
          </a:prstGeom>
          <a:solidFill>
            <a:srgbClr val="1E3A5F"/>
          </a:solidFill>
          <a:ln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5212080" cy="2286000"/>
          </a:xfrm>
          <a:prstGeom prst="roundRect">
            <a:avLst/>
          </a:prstGeom>
          <a:solidFill>
            <a:srgbClr val="172A45"/>
          </a:solidFill>
          <a:ln w="1524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719072"/>
            <a:ext cx="4846320" cy="19568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59E0B"/>
                </a:solidFill>
                <a:latin typeface="Segoe UI"/>
              </a:defRPr>
            </a:pPr>
            <a:r>
              <a:t>Challenge 1: Low-Resolution Mobile Phone Photos</a:t>
            </a:r>
          </a:p>
          <a:p>
            <a:pPr>
              <a:spcBef>
                <a:spcPts val="600"/>
              </a:spcBef>
              <a:defRPr sz="1200">
                <a:solidFill>
                  <a:srgbClr val="F8FAFC"/>
                </a:solidFill>
                <a:latin typeface="Segoe UI"/>
              </a:defRPr>
            </a:pPr>
            <a:r>
              <a:t>•  Issue: Real Kaggle OLX photos often have vehicle dimensions &lt;300px where the license plate is only 15-20px tall.</a:t>
            </a:r>
          </a:p>
          <a:p>
            <a:pPr>
              <a:spcBef>
                <a:spcPts val="600"/>
              </a:spcBef>
              <a:defRPr sz="1200">
                <a:solidFill>
                  <a:srgbClr val="F8FAFC"/>
                </a:solidFill>
                <a:latin typeface="Segoe UI"/>
              </a:defRPr>
            </a:pPr>
            <a:r>
              <a:t>•  Engineered Solution: Integrated multi-scale upscaling that dynamically expands small images to 700px before edge and contour analysis.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554480"/>
            <a:ext cx="5212080" cy="2286000"/>
          </a:xfrm>
          <a:prstGeom prst="roundRect">
            <a:avLst/>
          </a:prstGeom>
          <a:solidFill>
            <a:srgbClr val="172A45"/>
          </a:solidFill>
          <a:ln w="1524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719072"/>
            <a:ext cx="4846320" cy="19568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38BDF8"/>
                </a:solidFill>
                <a:latin typeface="Segoe UI"/>
              </a:defRPr>
            </a:pPr>
            <a:r>
              <a:t>Challenge 2: Severe Lighting &amp; Night Reflections</a:t>
            </a:r>
          </a:p>
          <a:p>
            <a:pPr>
              <a:spcBef>
                <a:spcPts val="600"/>
              </a:spcBef>
              <a:defRPr sz="1200">
                <a:solidFill>
                  <a:srgbClr val="F8FAFC"/>
                </a:solidFill>
                <a:latin typeface="Segoe UI"/>
              </a:defRPr>
            </a:pPr>
            <a:r>
              <a:t>•  Issue: Direct headlight illumination, dark shadows under bumpers, and rainy specularities distort character thresholds.</a:t>
            </a:r>
          </a:p>
          <a:p>
            <a:pPr>
              <a:spcBef>
                <a:spcPts val="600"/>
              </a:spcBef>
              <a:defRPr sz="1200">
                <a:solidFill>
                  <a:srgbClr val="F8FAFC"/>
                </a:solidFill>
                <a:latin typeface="Segoe UI"/>
              </a:defRPr>
            </a:pPr>
            <a:r>
              <a:t>•  Engineered Solution: CLAHE localized adaptive contrast equalization and Otsu dynamic binarization with polarity verification.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4023360"/>
            <a:ext cx="5212080" cy="2377440"/>
          </a:xfrm>
          <a:prstGeom prst="roundRect">
            <a:avLst/>
          </a:prstGeom>
          <a:solidFill>
            <a:srgbClr val="172A45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4187952"/>
            <a:ext cx="4846320" cy="20482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0B981"/>
                </a:solidFill>
                <a:latin typeface="Segoe UI"/>
              </a:defRPr>
            </a:pPr>
            <a:r>
              <a:t>Challenge 3: OCR Glyph Ambiguity (8 vs B, 0 vs O)</a:t>
            </a:r>
          </a:p>
          <a:p>
            <a:pPr>
              <a:spcBef>
                <a:spcPts val="600"/>
              </a:spcBef>
              <a:defRPr sz="1200">
                <a:solidFill>
                  <a:srgbClr val="F8FAFC"/>
                </a:solidFill>
                <a:latin typeface="Segoe UI"/>
              </a:defRPr>
            </a:pPr>
            <a:r>
              <a:t>•  Issue: Similar geometric contours between numeric digits and alphabets produce recurrent OCR misclassifications.</a:t>
            </a:r>
          </a:p>
          <a:p>
            <a:pPr>
              <a:spcBef>
                <a:spcPts val="600"/>
              </a:spcBef>
              <a:defRPr sz="1200">
                <a:solidFill>
                  <a:srgbClr val="F8FAFC"/>
                </a:solidFill>
                <a:latin typeface="Segoe UI"/>
              </a:defRPr>
            </a:pPr>
            <a:r>
              <a:t>•  Engineered Solution: Indian High Security Registration Plate (HSRP) positional syntax validator strictly enforces Letters vs Digits by character index.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4023360"/>
            <a:ext cx="5212080" cy="2377440"/>
          </a:xfrm>
          <a:prstGeom prst="roundRect">
            <a:avLst/>
          </a:prstGeom>
          <a:solidFill>
            <a:srgbClr val="172A45"/>
          </a:solidFill>
          <a:ln w="1524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4187952"/>
            <a:ext cx="4846320" cy="20482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59E0B"/>
                </a:solidFill>
                <a:latin typeface="Segoe UI"/>
              </a:defRPr>
            </a:pPr>
            <a:r>
              <a:t>Challenge 4: Angled &amp; Skewed Perspectives</a:t>
            </a:r>
          </a:p>
          <a:p>
            <a:pPr>
              <a:spcBef>
                <a:spcPts val="600"/>
              </a:spcBef>
              <a:defRPr sz="1200">
                <a:solidFill>
                  <a:srgbClr val="F8FAFC"/>
                </a:solidFill>
                <a:latin typeface="Segoe UI"/>
              </a:defRPr>
            </a:pPr>
            <a:r>
              <a:t>•  Issue: Corner-angle vehicle perspectives introduce keystone trapezoidal distortion to rectangular plates.</a:t>
            </a:r>
          </a:p>
          <a:p>
            <a:pPr>
              <a:spcBef>
                <a:spcPts val="600"/>
              </a:spcBef>
              <a:defRPr sz="1200">
                <a:solidFill>
                  <a:srgbClr val="F8FAFC"/>
                </a:solidFill>
                <a:latin typeface="Segoe UI"/>
              </a:defRPr>
            </a:pPr>
            <a:r>
              <a:t>•  Engineered Solution: Four-point perspective transformation deskews quadrilateral plates into clean horizontal rectangles.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9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  <a:latin typeface="Segoe UI"/>
              </a:defRPr>
            </a:pPr>
            <a:r>
              <a:t>PROJECT WRAP-UP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Segoe UI"/>
              </a:defRPr>
            </a:pPr>
            <a:r>
              <a:t>11. Conclusion &amp; Summary of Deliverables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98448"/>
            <a:ext cx="10725912" cy="18288"/>
          </a:xfrm>
          <a:prstGeom prst="rect">
            <a:avLst/>
          </a:prstGeom>
          <a:solidFill>
            <a:srgbClr val="1E3A5F"/>
          </a:solidFill>
          <a:ln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5212080" cy="4846320"/>
          </a:xfrm>
          <a:prstGeom prst="roundRect">
            <a:avLst/>
          </a:prstGeom>
          <a:solidFill>
            <a:srgbClr val="172A45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719072"/>
            <a:ext cx="4846320" cy="45171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0B981"/>
                </a:solidFill>
                <a:latin typeface="Segoe UI"/>
              </a:defRPr>
            </a:pPr>
            <a:r>
              <a:t>Key Project Deliverables Achieved</a:t>
            </a:r>
          </a:p>
          <a:p>
            <a:pPr>
              <a:spcBef>
                <a:spcPts val="600"/>
              </a:spcBef>
              <a:defRPr sz="1200">
                <a:solidFill>
                  <a:srgbClr val="F8FAFC"/>
                </a:solidFill>
                <a:latin typeface="Segoe UI"/>
              </a:defRPr>
            </a:pPr>
            <a:r>
              <a:t>•  Fully Operational ANPR System: Developed a complete, modular computer vision and OCR pipeline in Python 3.12.</a:t>
            </a:r>
          </a:p>
          <a:p>
            <a:pPr>
              <a:spcBef>
                <a:spcPts val="600"/>
              </a:spcBef>
              <a:defRPr sz="1200">
                <a:solidFill>
                  <a:srgbClr val="F8FAFC"/>
                </a:solidFill>
                <a:latin typeface="Segoe UI"/>
              </a:defRPr>
            </a:pPr>
            <a:r>
              <a:t>•  Real-World Kaggle Dataset Integration: Evaluated across 1,696 real annotated vehicles from 35 Indian states and union territories.</a:t>
            </a:r>
          </a:p>
          <a:p>
            <a:pPr>
              <a:spcBef>
                <a:spcPts val="600"/>
              </a:spcBef>
              <a:defRPr sz="1200">
                <a:solidFill>
                  <a:srgbClr val="F8FAFC"/>
                </a:solidFill>
                <a:latin typeface="Segoe UI"/>
              </a:defRPr>
            </a:pPr>
            <a:r>
              <a:t>•  Robust Pre-Processing &amp; Localization: Combined CLAHE, Bilateral filtering, Sobel-X vertical gradients, and morphological closing.</a:t>
            </a:r>
          </a:p>
          <a:p>
            <a:pPr>
              <a:spcBef>
                <a:spcPts val="600"/>
              </a:spcBef>
              <a:defRPr sz="1200">
                <a:solidFill>
                  <a:srgbClr val="F8FAFC"/>
                </a:solidFill>
                <a:latin typeface="Segoe UI"/>
              </a:defRPr>
            </a:pPr>
            <a:r>
              <a:t>•  Indian Registration Syntax Validator: Positional heuristic rules successfully eliminate character ambiguities.</a:t>
            </a:r>
          </a:p>
          <a:p>
            <a:pPr>
              <a:spcBef>
                <a:spcPts val="600"/>
              </a:spcBef>
              <a:defRPr sz="1200">
                <a:solidFill>
                  <a:srgbClr val="F8FAFC"/>
                </a:solidFill>
                <a:latin typeface="Segoe UI"/>
              </a:defRPr>
            </a:pPr>
            <a:r>
              <a:t>•  One-Click Runnable Verification: Packaged with `main.py` CLI and `run.bat` for instant Windows execution.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554480"/>
            <a:ext cx="5212080" cy="4846320"/>
          </a:xfrm>
          <a:prstGeom prst="roundRect">
            <a:avLst/>
          </a:prstGeom>
          <a:solidFill>
            <a:srgbClr val="172A45"/>
          </a:solidFill>
          <a:ln w="1524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719072"/>
            <a:ext cx="4846320" cy="45171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38BDF8"/>
                </a:solidFill>
                <a:latin typeface="Segoe UI"/>
              </a:defRPr>
            </a:pPr>
            <a:r>
              <a:t>Summary of Research Contributions</a:t>
            </a:r>
          </a:p>
          <a:p>
            <a:pPr>
              <a:spcBef>
                <a:spcPts val="600"/>
              </a:spcBef>
              <a:defRPr sz="1200">
                <a:solidFill>
                  <a:srgbClr val="F8FAFC"/>
                </a:solidFill>
                <a:latin typeface="Segoe UI"/>
              </a:defRPr>
            </a:pPr>
            <a:r>
              <a:t>•  Demonstrated that classical computer vision achieves sub-10ms localization speed on standard CPU architectures.</a:t>
            </a:r>
          </a:p>
          <a:p>
            <a:pPr>
              <a:spcBef>
                <a:spcPts val="600"/>
              </a:spcBef>
              <a:defRPr sz="1200">
                <a:solidFill>
                  <a:srgbClr val="F8FAFC"/>
                </a:solidFill>
                <a:latin typeface="Segoe UI"/>
              </a:defRPr>
            </a:pPr>
            <a:r>
              <a:t>•  Quantified the performance trade-offs of traditional contour heuristics on unconstrained real-world in-the-wild mobile photos.</a:t>
            </a:r>
          </a:p>
          <a:p>
            <a:pPr>
              <a:spcBef>
                <a:spcPts val="600"/>
              </a:spcBef>
              <a:defRPr sz="1200">
                <a:solidFill>
                  <a:srgbClr val="F8FAFC"/>
                </a:solidFill>
                <a:latin typeface="Segoe UI"/>
              </a:defRPr>
            </a:pPr>
            <a:r>
              <a:t>•  Established a baseline for automated audit logging, CSV reporting, and seamless integration with real-world security checkpoints.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9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1645920"/>
            <a:ext cx="109728" cy="3474720"/>
          </a:xfrm>
          <a:prstGeom prst="rect">
            <a:avLst/>
          </a:prstGeom>
          <a:solidFill>
            <a:srgbClr val="38BDF8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1645920"/>
            <a:ext cx="102412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8FAFC"/>
                </a:solidFill>
                <a:latin typeface="Segoe UI"/>
              </a:defRPr>
            </a:pPr>
            <a:r>
              <a:t>THANK YOU!</a:t>
            </a:r>
          </a:p>
          <a:p>
            <a:pPr>
              <a:spcBef>
                <a:spcPts val="800"/>
              </a:spcBef>
              <a:defRPr sz="2000">
                <a:solidFill>
                  <a:srgbClr val="38BDF8"/>
                </a:solidFill>
                <a:latin typeface="Segoe UI"/>
              </a:defRPr>
            </a:pPr>
            <a:r>
              <a:t>Questions &amp; Academic Discussion</a:t>
            </a:r>
          </a:p>
          <a:p>
            <a:pPr>
              <a:spcBef>
                <a:spcPts val="1600"/>
              </a:spcBef>
              <a:defRPr sz="1400">
                <a:solidFill>
                  <a:srgbClr val="94A3B8"/>
                </a:solidFill>
                <a:latin typeface="Segoe UI"/>
              </a:defRPr>
            </a:pPr>
            <a:r>
              <a:t>Automatic Number Plate Recognition (ANPR) System</a:t>
            </a:r>
          </a:p>
          <a:p>
            <a:pPr>
              <a:spcBef>
                <a:spcPts val="600"/>
              </a:spcBef>
              <a:defRPr sz="1200">
                <a:solidFill>
                  <a:srgbClr val="94A3B8"/>
                </a:solidFill>
                <a:latin typeface="Segoe UI"/>
              </a:defRPr>
            </a:pPr>
            <a:r>
              <a:t>Project Code, Kaggle Dataset &amp; Benchmark Results available in the workspace.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97280" y="4846320"/>
            <a:ext cx="3200400" cy="1280160"/>
          </a:xfrm>
          <a:prstGeom prst="roundRect">
            <a:avLst/>
          </a:prstGeom>
          <a:solidFill>
            <a:srgbClr val="172A45"/>
          </a:solidFill>
          <a:ln w="1524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4956048"/>
            <a:ext cx="3200400" cy="10607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38BDF8"/>
                </a:solidFill>
                <a:latin typeface="Segoe UI"/>
              </a:defRPr>
            </a:pPr>
            <a:r>
              <a:t>Runnable</a:t>
            </a:r>
          </a:p>
          <a:p>
            <a:pPr algn="ctr">
              <a:defRPr sz="1100" b="1">
                <a:solidFill>
                  <a:srgbClr val="F8FAFC"/>
                </a:solidFill>
                <a:latin typeface="Segoe UI"/>
              </a:defRPr>
            </a:pPr>
            <a:r>
              <a:t>`python main.py`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0" y="4846320"/>
            <a:ext cx="3200400" cy="1280160"/>
          </a:xfrm>
          <a:prstGeom prst="roundRect">
            <a:avLst/>
          </a:prstGeom>
          <a:solidFill>
            <a:srgbClr val="172A45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0" y="4956048"/>
            <a:ext cx="3200400" cy="10607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10B981"/>
                </a:solidFill>
                <a:latin typeface="Segoe UI"/>
              </a:defRPr>
            </a:pPr>
            <a:r>
              <a:t>Evaluated</a:t>
            </a:r>
          </a:p>
          <a:p>
            <a:pPr algn="ctr">
              <a:defRPr sz="1100" b="1">
                <a:solidFill>
                  <a:srgbClr val="F8FAFC"/>
                </a:solidFill>
                <a:latin typeface="Segoe UI"/>
              </a:defRPr>
            </a:pPr>
            <a:r>
              <a:t>1,696 Kaggle Vehicles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4846320"/>
            <a:ext cx="3200400" cy="1280160"/>
          </a:xfrm>
          <a:prstGeom prst="roundRect">
            <a:avLst/>
          </a:prstGeom>
          <a:solidFill>
            <a:srgbClr val="172A45"/>
          </a:solidFill>
          <a:ln w="1524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46720" y="4956048"/>
            <a:ext cx="3200400" cy="10607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F59E0B"/>
                </a:solidFill>
                <a:latin typeface="Segoe UI"/>
              </a:defRPr>
            </a:pPr>
            <a:r>
              <a:t>1-Click Launcher</a:t>
            </a:r>
          </a:p>
          <a:p>
            <a:pPr algn="ctr">
              <a:defRPr sz="1100" b="1">
                <a:solidFill>
                  <a:srgbClr val="F8FAFC"/>
                </a:solidFill>
                <a:latin typeface="Segoe UI"/>
              </a:defRPr>
            </a:pPr>
            <a:r>
              <a:t>`run.bat`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