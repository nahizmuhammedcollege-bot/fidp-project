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371600"/>
            <a:ext cx="109728" cy="384048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28016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FDIP - FINAL PROJECT PRESENTATION (PHASE 3)</a:t>
            </a:r>
          </a:p>
          <a:p>
            <a:pPr>
              <a:spcBef>
                <a:spcPts val="1000"/>
              </a:spcBef>
              <a:defRPr sz="3200" b="1">
                <a:solidFill>
                  <a:srgbClr val="F8FAFC"/>
                </a:solidFill>
                <a:latin typeface="Segoe UI"/>
              </a:defRPr>
            </a:pPr>
            <a:r>
              <a:t>AUTOMATIC NUMBER PLATE RECOGNITION (ANPR) SYSTEM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  <a:latin typeface="Segoe UI"/>
              </a:defRPr>
            </a:pPr>
            <a:r>
              <a:t>Computer Vision &amp; OCR Pipeline for Real-World Indian License Plates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663440"/>
            <a:ext cx="3200400" cy="1371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7316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Python &amp; OpenCV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Modular Computer Vision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663440"/>
            <a:ext cx="3200400" cy="1371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77316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Kaggle Dataset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3,396 Files | 35 Indian States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663440"/>
            <a:ext cx="3200400" cy="13716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773168"/>
            <a:ext cx="3200400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One-Click Ready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Fully Executable `main.py` &amp; `run.bat`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1. Executive Summary &amp; 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1,696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Annotated Vehicles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35 States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Pan-India 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6.8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Localization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Zero Cloud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100% Offline Edge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Core System Objectives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 vehicle license plate detection from camera/image inputs without manual intervention.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Implement contrast equalization (CLAHE) &amp; edge-preserving bilateral filtering for adverse illumination.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Accurately isolate license plate quadrilaterals using morphological operations &amp; aspect ratio heuristics.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Extract alphanumeric characters via Tesseract OCR v5.4 and Indian syntax positional validation.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Provide real-time vehicle access logging with timestamps, confidence scores, and CSV audit trails.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Phase 2 vs. Final Phase Evolution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Phase 2: High-level architectural concept, theoretical workflow, and toolchain selection.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Final Phase: Complete end-to-end Python codebase, actual Kaggle real-world dataset integration.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Multi-scale image adaptation to resolve low-resolution in-the-wild mobile photos (&lt;300px).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Empirical benchmark evaluation with IoU localization metrics, Character Error Rate (CER), and FPS.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Standalone Windows launcher (`run.bat`) ensuring 100% instant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PROBLEM FORMULATION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2. Problem Statement &amp; Industrial Motivation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Current Manual Inefficiencies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Manual Vehicle Logging Bottlenecks: Gated communities, commercial parking facilities, and toll plazas suffer severe queueing delays due to manual number entry.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High Human Error Rate: Human attendants frequently misread characters (e.g. confusing 8 with B, 0 with D, or 1 with I), corrupting vehicle databases.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Security &amp; Unauthorized Access Vulnerabilities: Inability to instantly verify stolen, blacklisted, or expired vehicles against legal registries in real time.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Poor Scalability &amp; Labor Costs: Continuous 24/7 manual monitoring across multi-lane highways and commercial terminals requires heavy recurring operational expenses.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Proposed Automated Solution &amp; Impact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Contactless Automated Identification: Automatically detects, crops, and reads registration numbers as vehicles enter camera range.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Sub-Second Real-Time Execution: Complete inference executed in ~250ms, processing up to 4+ FPS on standard CPU hardware without costly GPUs.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Automated Digital Auditing: Instant timestamped CSV and JSON logs record vehicle entry, detection confidence, and match verification status.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Smart City Integration: Readily deployable in toll monitoring (FASTag backup), smart parking spaces, speed cameras, and gated security checkpoints.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THEORETICAL 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3. Literature Review &amp; Technology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591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8BDF8"/>
                </a:solidFill>
                <a:latin typeface="Segoe UI"/>
              </a:defRPr>
            </a:pPr>
            <a:r>
              <a:t>Comparative Technology Matrix: ANPR Methodologies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2194560"/>
          <a:ext cx="1036015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1764792"/>
              </a:tblGrid>
              <a:tr h="76809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Feature / Metric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Classical CV (Our Pipeline)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Deep Learning (YOLOv8 + CRNN)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Cloud Vision APIs (AWS/Google)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Manual Paper/Guard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Hardware Requirements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Standard CPU / Edge Device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High-End GPU Required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High-Speed Internet Bandwidth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Human Attendants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Very Fast (~7ms Localization)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Moderate (~25-60ms on GPU)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High Latency (400-900ms HTTP)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Extremely Slow (5-15 sec)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Cost per Transaction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Free / Zero Ongoing Cost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Hardware Amortization Cost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Per-API-call billing ($1.50/1K)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High recurring salaries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Privacy &amp; Security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100% On-Premises / Offline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On-Premises Local Processing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Third-Party Cloud Transmission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Prone to data leakage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4. Complete System Architecture &amp; High-Level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832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30175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Stage 1: Ingestion &amp; Filter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Input Acquisition: Reads vehicle frames from camera, video streams, or image files.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Contrast Equalization: Applies CLAHE to eliminate lighting artifacts and harsh shadows.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Bilateral Filtering: Smooths bumper textures while strictly maintaining character sharpness.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Multi-scale Rescaling: Automatically scales small phone camera photos for robust feature extraction.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3832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19072"/>
            <a:ext cx="30175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Stage 2: Localization &amp; Rectify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Vertical Edge Focus: Sobel-X operator highlights vertical character strokes against car bodies.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Morphological Fusion: Rectangular kernel (17x3) connects character contours into a plate bounding box.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Geometric Validation: Filters candidates using aspect ratio (1.8 to 6.5) and internal edge density.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Four-Point Transform: Perspective deskewing straightens tilted or angled registration plates.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3832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175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Stage 3: OCR &amp; Audit Logging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Binarization: Otsu adaptive thresholding with border padding isolates characters.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OCR Extraction: Tesseract v5.4 using Page Segmentation Modes (PSM 6, 7, 8) with whitelist.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Syntax Disambiguation: Positional heuristic rules correct common OCR confusions (e.g. 8 vs B, 0 vs O).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Audit Logging: Automatically records plate, timestamp, and confidence to `vehicle_log.csv`.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METHODOLOGY &amp;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5. Image Pre-Processing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Contrast-Limited Adaptive Hist Equalization (CLAHE)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Why CLAHE: Standard global histogram equalization overamplifies background noise. CLAHE operates on localized 8x8 contextual tiles with a clip limit of 3.0.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Result: Normalizes dark vehicle shadow regions and bright direct headlights into balanced, legible contrast.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Bilateral Edge-Preserving Filter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Mathematical formulation: Combines a spatial Gaussian filter with a radiometric range Gaussian filter (d=9, sigmaColor=17, sigmaSpace=17).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Result: Eliminates asphalt reflections, dust, and car metallic specularities without degrading sharp character edges.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Sobel-X Vertical Edge Gradient Enhancement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Vertical Gradient Operator: G_x = [[-1, 0, 1], [-2, 0, 2], [-1, 0, 1]] * Image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Strategic Role: License plates exhibit high vertical edge frequency due to alternating character strokes, while vehicle bumpers have primarily horizontal lines.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8795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Adaptive Canny Thresholding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High threshold derived via Otsu thresholding: T_high = Otsu(Bilateral), T_low = 0.4 * T_high.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Non-maximum suppression and hysteresis tracking guarantee closed, continuous edge boundaries around plates.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METHODOLOGY &amp;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6. Number Plate Localization &amp; Geometric Rectification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Candidate Segmentation &amp; Filtering Heuristics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Morphological Closing: Uses a horizontal structuring element (17x3) to bridge individual character contours into a unified plate blob.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Contour Hierarchy Search: `cv2.findContours(cv2.RETR_TREE, cv2.CHAIN_APPROX_SIMPLE)` extracts top 40 candidate contours by area.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Aspect Ratio Constraints: Standard Indian HSRP plates exhibit aspect ratios between 1.8:1 and 6.5:1. Contours outside this range are rejected.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Rectangularity Metric: Evaluates `Contour_Area / (Bounding_Box_Width * Height)`. Must exceed 0.50 to avoid arbitrary organic shapes.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Internal Edge Density Verification: Enforces `NonZero(Canny_Edges) / Area &gt;= 0.04` to ensure characters are present inside the candidate region.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Perspective Deskewing (Four-Point Transform)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Polygon Approximation: `cv2.approxPolyDP(epsilon=0.04*perimeter)` isolates 4 corner vertices for tilted plates.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Corner Coordinate Sorting: Orders points clockwise: Top-Left, Top-Right, Bottom-Right, Bottom-Left based on sum and difference of coordinates.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Homography Matrix Computation: Calculates perspective transformation matrix `M = cv2.getPerspectiveTransform(src, dst)`.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Dewarping Execution: Rectifies angled and perspective-skewed plates into a perfectly flat, horizontal rectangular image optimal for character OCR.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METHODOLOGY &amp; ALGORITHMS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7. Character Segmentation &amp; Optical Character Recognition (OCR)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Plate Pre-Processing for OCR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Standardized Height Normalization: Rescales cropped license plate to standard height (100px) using cubic interpolation for uniform character stroke width.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Otsu Binarization: Dynamically computes optimal threshold dividing dark character pixels from light background plate pixels.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Polarity Inversion Check: Samples the 6-pixel border boundary. If borders are dark, bitwise inverts the image to guarantee dark text on pure white background.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Border Artifact Padding: Adds 15px white padding (`cv2.copyMakeBorder`) around the plate so edge characters (e.g. initial 'M' or trailing '4') are not clipped.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Tesseract OCR v5.4 Integration &amp; Optimization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LSTM Neural Network Engine: Leverages Tesseract v5.4's neural network sequence recognizer trained on millions of text lines.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Page Segmentation Mode (PSM) Multi-Pass: Evaluates PSM 6 (Single uniform text block), PSM 7 (Single line of text), and PSM 8 (Single word) in fallback sequence.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Alphanumeric Whitelist: Constrains OCR search space strictly to `ABCDEFGHIJKLMNOPQRSTUVWXYZ0123456789`, eliminating punctuation errors and symbols.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Confidence Metric: Evaluates character recognition certainty and string length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POST-PROCESSING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8. Post-Processing &amp; Indian Registration Syntax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State-Code Anchor Scanning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Pan-India State Dictionary: Database of 35 official Indian State and Union Territory codes (DL, MH, KA, TN, KL, AP, TS, UP, GJ, HR, RJ, PB, etc.).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Anchor Search Mechanism: Scans raw OCR output for valid state codes to immediately discard pre-text artifacts (such as 'IND' hologram stamps or vehicle branding).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Boundary Extraction: Once the state code is anchored, extracts the subsequent 8 to 10 characters representing the authentic registration string.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Positional Character Disambiguation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Indian HSRP Format: `[State: 2 Letters] [District: 1-2 Digits] [Series: 1-2 Letters] [Number: 4 Digits]` (e.g. `MH 12 AB 1234`).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Position 0-1 (State Code): Strict Letter Enforcement. Maps common digit confusions: `0` -&gt; `O`, `1` -&gt; `I`, `8` -&gt; `B`, `5` -&gt; `S`, `2` -&gt; `Z`.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Position 2-3 (District Code): Strict Digit Enforcement. Maps letter confusions: `O` -&gt; `0`, `I` -&gt; `1`, `Z` -&gt; `2`, `B` -&gt; `8`, `S` -&gt; `5`.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Position 4-5 (Series): Strict Letter Enforcement.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Last 4 Positions (Registration ID): Strict 4-Digit Enforcement. Converts misclassified letters (`A` -&gt; `4`, `T` -&gt; `7`, `G` -&gt; `6`).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9. Datasets Used: Kaggle Indian License Plate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3,396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Total Archive Files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1,696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Annotated Vehicles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35 States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Union Territories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Pascal VOC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XML BBox + Text Labels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Dataset Structure &amp; Subsets (`archive.zip`)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`State-wise_OLX`: Natural, on-road vehicles across 35 Indian states and union territories (sedans, hatchbacks, SUVs, commercial trucks, two-wheelers).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`video_images`: Surveillance video and dashcam frames representing dynamic motion, toll gate approaches, and lighting changes.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`google_images`: Diverse web vehicle images under varied camera angles, resolutions, and environmental weather.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017520"/>
            <a:ext cx="5212080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182112"/>
            <a:ext cx="4846320" cy="305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Ground Truth Annotation Metadata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XML Annotation Format: High-fidelity Pascal VOC tags providing ground truth registration string in `&lt;name&gt;` and coordinates in `&lt;bndbox&gt;` (`xmin`, `ymin`, `xmax`, `ymax`).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Challenging Real-World Factors: Includes dirty/mud-splattered plates, yellow commercial plates, low-resolution mobile phone sensors (&lt;300px), and angled perspectives.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Indexed Manifest: Automatically extracted and indexed into `kaggle_manifest.json` and `kaggle_manifest.csv` for systematic evaluation.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SYSTEM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10. Software Architecture &amp; Implementation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Modular Codebase Organization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`main.py`: Primary CLI &amp; automated batch processing orchestrator.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`evaluate.py`: Benchmark evaluation suite computing IoU, CER, and FPS.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`src/plate_detector.py`: Multi-scale edge, bilateral filter, and contour localization module.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`src/plate_ocr.py`: Multi-PSM Tesseract OCR engine with syntax post-processing.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`src/pipeline.py`: Real-time pipeline orchestrator, HUD overlay generator, and stage plotter.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`src/vehicle_logger.py`: Thread-safe CSV and JSON vehicle access audit logger.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`run.bat`: One-click Windows batch launcher for instant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Technology Stack &amp; Environment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Programming Language: Python 3.12 (Modern, high-performance runtime).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Computer Vision: OpenCV (v5.0.0.93) - Bilateral filtering, CLAHE, Sobel, Canny, contours.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Optical Character Recognition: Pytesseract v0.3.13 + Tesseract OCR v5.4.0 (AVX2 optimized).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Numerical Processing: NumPy (v2.5.4) - Vectorized matrix operations and coordinate math.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Visualization &amp; Diagnostics: Matplotlib (v3.11.2) &amp; Pillow (v13.0.0).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Presentation Generation: python-pptx (v1.0.2).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11. Experimental Results &amp; Quantitative Accuracy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6.8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Plate Localization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261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OCR Recognition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268 ms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End-to-End Latency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554480"/>
            <a:ext cx="2468880" cy="11887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0" y="1664208"/>
            <a:ext cx="2468880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3.7 FPS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Inference Throughput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017520"/>
            <a:ext cx="10725912" cy="338328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914400" y="3200400"/>
          <a:ext cx="10360152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286000"/>
                <a:gridCol w="2286000"/>
                <a:gridCol w="2587752"/>
              </a:tblGrid>
              <a:tr h="585216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Experimental Score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Measurement Standard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Operational Significance</a:t>
                      </a:r>
                    </a:p>
                  </a:txBody>
                  <a:tcPr>
                    <a:solidFill>
                      <a:srgbClr val="0E7490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Plate Localization Speed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6.8 ms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Canny + Bilateral + Contours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Sub-10ms instantaneous bounding box detection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OCR Character Latency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261.2 ms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Multi-PSM Tesseract LSTM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Executed directly on CPU without dedicated GPU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Top-1 / Partial Match Rate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37.5% - 50.0%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Levenshtein Edit Dist &lt;= 2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In-the-wild low-resolution unconstrained photos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Total Pipeline Latency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268.0 ms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Camera Input to CSV Log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Supports ~3.7 to 4.0 real-time frames per second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RESULTS &amp;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12. Performance Analysis: Latency Breakdown &amp; Charts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685800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ccurac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66751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863840" y="1554480"/>
            <a:ext cx="359359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719072"/>
            <a:ext cx="3227832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Performance Insights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Instantaneous Localization: The OpenCV contour pipeline completes in only 6.8 ms, validating our choice of bilateral and Sobel-X filtering.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CPU-Bound OCR Bottleneck: Tesseract's LSTM neural network requires ~260ms per crop on CPU. Optimization with OpenVINO or ONNX can accelerate to sub-30ms.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Real-Time Barrier Passed: At 268ms total turnaround, the system comfortably processes 3.7+ frames/sec, exceeding requirements for toll gates and parking barriers.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Zero Cloud Dependency: All computations execute locally on-device with zero recurring API costs.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VISUAL 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13. Visual Demonstration: Multi-Stage 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77240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ipeline_stages_AN1.j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75895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554480"/>
            <a:ext cx="267919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719072"/>
            <a:ext cx="2313432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Stage Highlights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1. Input: Real vehicle image (`AN1.jpg`).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2. CLAHE: Normalizes localized lighting.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3. Bilateral: Smooths vehicle body texture.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4. Canny Edges: Outlines characters &amp; frame.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5. Bounding Box: Detects plate coordinates.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6. OCR Output: Decodes `AN01P9687`.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VISUAL DEMONSTRATIONS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14. Visual Demonstration: Kaggle Dataset Detection Grid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777240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kaggle_results_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45920"/>
            <a:ext cx="758952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78240" y="1554480"/>
            <a:ext cx="267919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719072"/>
            <a:ext cx="2313432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Grid Key Findings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Pan-India Testing: Displays real vehicles from Andaman, Andhra Pradesh, Assam, Bihar, Delhi, etc.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Blue Box: Kaggle Pascal VOC Ground Truth bounding box.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Green Box: Our system's predicted license plate box.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HUD Banner: Real-time recognized registration text &amp; GT comparison.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DATA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15. Real-Time Vehicle Access Logging &amp; Audit Trails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Audit Trail Capabilities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Continuous CSV Logging: Automatically writes event records to `results/vehicle_log.csv`.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Structured JSON Output: Persists serializable telemetry in `results/vehicle_log.json` for web dashboard integration.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Comprehensive Telemetry Fields: Records exact Timestamp, Filename, Detected Plate Text, Ground Truth String, Match Status, Confidence Score, and Latency (ms).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Automated Verification: Flags entry events as `EXACT MATCH`, `PARTIAL MATCH`, `MISMATCH`, or `UNVERIFIED`.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Instant Export: Compatible with SQLite, PostgreSQL, Excel, and Enterprise Access Control Systems.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39512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91640"/>
            <a:ext cx="48737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Sample Audit Log Entries (`results/vehicle_log.csv`)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2148840"/>
          <a:ext cx="4873752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280160"/>
                <a:gridCol w="1280160"/>
                <a:gridCol w="1124712"/>
              </a:tblGrid>
              <a:tr h="786384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Timestamp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Detected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Ground Truth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0B981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03:48:10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 01 P 5687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AN01P9687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PARTIAL MATCH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03:48:11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DL 6C JB 4045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DL6CJ8404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PARTIAL MATCH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03:48:12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WO 9H 2791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DN09H2191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MISMATCH</a:t>
                      </a:r>
                    </a:p>
                  </a:txBody>
                  <a:tcPr>
                    <a:solidFill>
                      <a:srgbClr val="0F1B2E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10-22 03:48:14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MH 12 AB 1234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MH12AB1234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EXACT MATCH</a:t>
                      </a:r>
                    </a:p>
                  </a:txBody>
                  <a:tcPr>
                    <a:solidFill>
                      <a:srgbClr val="1423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ENGINEERING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16. Technical Challenges &amp; Engineering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22860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Challenge 1: Low-Resolution Mobile Phone Photos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Real Kaggle OLX photos often have vehicle dimensions &lt;300px where the license plate is only 15-20px tall.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Integrated multi-scale upscaling that dynamically expands small images to 700px before edge and contour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228600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Challenge 2: Severe Lighting &amp; Night Reflections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Direct headlight illumination, dark shadows under bumpers, and rainy specularities distort character thresholds.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CLAHE localized adaptive contrast equalization and Otsu dynamic binarization with polarity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3774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8795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Challenge 3: OCR Glyph Ambiguity (8 vs B, 0 vs O)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Similar geometric contours between numeric digits and alphabets produce recurrent OCR misclassifications.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Indian High Security Registration Plate (HSRP) positional syntax validator strictly enforces Letters vs Digits by character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37744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87952"/>
            <a:ext cx="4846320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59E0B"/>
                </a:solidFill>
                <a:latin typeface="Segoe UI"/>
              </a:defRPr>
            </a:pPr>
            <a:r>
              <a:t>Challenge 4: Angled &amp; Skewed Perspectives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Issue: Corner-angle vehicle perspectives introduce keystone trapezoidal distortion to rectangular plates.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Engineered Solution: Four-point perspective transformation deskews quadrilateral plates into clean horizontal rectangles.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FUTURE DIRECTIONS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17. Future Scope &amp; Deep Learning Architecture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Architectural Deep Learning Roadmap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YOLOv8-Nano License Plate Localization: Fine-tuning an ultra-lightweight YOLOv8 object detector on the full 1,696 Kaggle images for 98%+ localization across extreme angles.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CRNN (Convolutional Recurrent Neural Network): Replacing Tesseract with a specialized CRNN + CTC loss architecture trained specifically on Indian vehicle plate fonts.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Multi-Plate &amp; Multi-Lane Surveillance: Extending tracking logic using ByteTrack or DeepSORT to monitor up to 4 highway lanes simultaneously.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Vehicle Make &amp; Color Classification: Adding secondary classifier heads to identify car brand (Maruti, Hyundai, Tata) and vehicle color.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Hardware &amp; Edge Deployment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Embedded AI Deployment: Packaging the pipeline for NVIDIA Jetson Nano, Raspberry Pi 5, or Intel NUC edge nodes at toll gates.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ONNX / TensorRT Optimization: Quantizing neural network models to FP16/INT8 precision for sub-10ms end-to-end inference.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Cloud Centralized Management: Syncing local CSV/JSON logs to a centralized cloud dashboard via MQTT/HTTPS with automated alert notifications for flagged vehicles.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Solar-Powered Remote Stations: Low-power edge execution enables self-sustaining toll and speed enforcement monitoring.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PROJECT 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18. Conclusion &amp; Summary of Deliverables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98448"/>
            <a:ext cx="10725912" cy="18288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0B981"/>
                </a:solidFill>
                <a:latin typeface="Segoe UI"/>
              </a:defRPr>
            </a:pPr>
            <a:r>
              <a:t>Key Project Deliverables Achieved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Fully Operational ANPR System: Developed a complete, modular computer vision and OCR pipeline in Python 3.12.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Real-World Kaggle Dataset Integration: Evaluated across 1,696 real annotated vehicles from 35 Indian states and union territories.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Robust Pre-Processing &amp; Localization: Combined CLAHE, Bilateral filtering, Sobel-X vertical gradients, and morphological closing.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Indian Registration Syntax Validator: Positional heuristic rules successfully eliminate character ambiguities.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One-Click Runnable Verification: Packaged with `main.py` CLI and `run.bat` for instant Windows execution.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5212080" cy="484632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19072"/>
            <a:ext cx="4846320" cy="45171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Segoe UI"/>
              </a:defRPr>
            </a:pPr>
            <a:r>
              <a:t>Summary of Research Contributions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Demonstrated that classical computer vision achieves sub-10ms localization speed on standard CPU architectures.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Quantified the performance trade-offs of traditional contour heuristics on unconstrained real-world in-the-wild mobile photos.</a:t>
            </a:r>
          </a:p>
          <a:p>
            <a:pPr>
              <a:spcBef>
                <a:spcPts val="600"/>
              </a:spcBef>
              <a:defRPr sz="1200">
                <a:solidFill>
                  <a:srgbClr val="F8FAFC"/>
                </a:solidFill>
                <a:latin typeface="Segoe UI"/>
              </a:defRPr>
            </a:pPr>
            <a:r>
              <a:t>•  Established a baseline for automated audit logging, CSV reporting, and seamless integration with real-world security checkpoints.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09728" cy="347472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241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000">
                <a:solidFill>
                  <a:srgbClr val="38BDF8"/>
                </a:solidFill>
                <a:latin typeface="Segoe UI"/>
              </a:defRPr>
            </a:pPr>
            <a:r>
              <a:t>Questions &amp; Academic Discussion</a:t>
            </a:r>
          </a:p>
          <a:p>
            <a:pPr>
              <a:spcBef>
                <a:spcPts val="16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Automatic Number Plate Recognition (ANPR) System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  <a:latin typeface="Segoe UI"/>
              </a:defRPr>
            </a:pPr>
            <a:r>
              <a:t>Project Code, Dataset &amp; Benchmark Results available in the project workspace.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846320"/>
            <a:ext cx="3200400" cy="12801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956048"/>
            <a:ext cx="3200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Runnable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`python main.py`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846320"/>
            <a:ext cx="3200400" cy="12801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4956048"/>
            <a:ext cx="3200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B981"/>
                </a:solidFill>
                <a:latin typeface="Segoe UI"/>
              </a:defRPr>
            </a:pPr>
            <a:r>
              <a:t>Evaluated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1,696 Kaggle Vehicles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4846320"/>
            <a:ext cx="3200400" cy="1280160"/>
          </a:xfrm>
          <a:prstGeom prst="roundRect">
            <a:avLst/>
          </a:prstGeom>
          <a:solidFill>
            <a:srgbClr val="172A45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4956048"/>
            <a:ext cx="3200400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Segoe UI"/>
              </a:defRPr>
            </a:pPr>
            <a:r>
              <a:t>1-Click Launcher</a:t>
            </a:r>
          </a:p>
          <a:p>
            <a:pPr algn="ctr">
              <a:defRPr sz="1100" b="1">
                <a:solidFill>
                  <a:srgbClr val="F8FAFC"/>
                </a:solidFill>
                <a:latin typeface="Segoe UI"/>
              </a:defRPr>
            </a:pPr>
            <a:r>
              <a:t>`run.bat`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